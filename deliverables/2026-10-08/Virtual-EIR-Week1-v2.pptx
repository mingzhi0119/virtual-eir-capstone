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f0ccec03134a81" /><Relationship Type="http://schemas.openxmlformats.org/officeDocument/2006/relationships/extended-properties" Target="/docProps/app.xml" Id="R22d7b012c54f40dc" /><Relationship Type="http://schemas.openxmlformats.org/officeDocument/2006/relationships/officeDocument" Target="/ppt/presentation.xml" Id="R51c6e1965a564ed0" /></Relationships>
</file>

<file path=ppt/presentation.xml><?xml version="1.0" encoding="utf-8"?>
<p:presentation xmlns:p="http://schemas.openxmlformats.org/presentationml/2006/main">
  <p:sldMasterIdLst>
    <p:sldMasterId xmlns:r="http://schemas.openxmlformats.org/officeDocument/2006/relationships" id="2147483648" r:id="R68029556e28d46f7"/>
  </p:sldMasterIdLst>
  <p:notesMasterIdLst>
    <p:notesMasterId xmlns:r="http://schemas.openxmlformats.org/officeDocument/2006/relationships" r:id="Rd92511f2ef764dbf"/>
  </p:notesMasterIdLst>
  <p:sldIdLst>
    <p:sldId xmlns:r="http://schemas.openxmlformats.org/officeDocument/2006/relationships" id="256" r:id="R07ef8f32b64540a7"/>
    <p:sldId xmlns:r="http://schemas.openxmlformats.org/officeDocument/2006/relationships" id="257" r:id="Rccc01ee4e3fa487a"/>
    <p:sldId xmlns:r="http://schemas.openxmlformats.org/officeDocument/2006/relationships" id="258" r:id="R87f60c927dce4531"/>
    <p:sldId xmlns:r="http://schemas.openxmlformats.org/officeDocument/2006/relationships" id="259" r:id="R1384fd1644f640b1"/>
    <p:sldId xmlns:r="http://schemas.openxmlformats.org/officeDocument/2006/relationships" id="260" r:id="R5f48dea771f04e26"/>
    <p:sldId xmlns:r="http://schemas.openxmlformats.org/officeDocument/2006/relationships" id="261" r:id="R5ef6998cdd774c89"/>
    <p:sldId xmlns:r="http://schemas.openxmlformats.org/officeDocument/2006/relationships" id="262" r:id="R0fabfad9c6fa40c5"/>
    <p:sldId xmlns:r="http://schemas.openxmlformats.org/officeDocument/2006/relationships" id="263" r:id="Rf48016b9d0324f52"/>
    <p:sldId xmlns:r="http://schemas.openxmlformats.org/officeDocument/2006/relationships" id="264" r:id="Rce94c6816a9649b7"/>
    <p:sldId xmlns:r="http://schemas.openxmlformats.org/officeDocument/2006/relationships" id="265" r:id="Rf3d4b4c07d0845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6ced9879204914" /><Relationship Type="http://schemas.openxmlformats.org/officeDocument/2006/relationships/slideMaster" Target="/ppt/slideMasters/slideMaster1.xml" Id="R68029556e28d46f7" /><Relationship Type="http://schemas.openxmlformats.org/officeDocument/2006/relationships/notesMaster" Target="/ppt/notesMasters/notesMaster1.xml" Id="Rd92511f2ef764dbf" /><Relationship Type="http://schemas.openxmlformats.org/officeDocument/2006/relationships/presProps" Target="/ppt/presProps.xml" Id="R371e54fe6dd64371" /><Relationship Type="http://schemas.openxmlformats.org/officeDocument/2006/relationships/tableStyles" Target="/ppt/tableStyles.xml" Id="R08e0653442354254" /><Relationship Type="http://schemas.openxmlformats.org/officeDocument/2006/relationships/slide" Target="/ppt/slides/slide1.xml" Id="R07ef8f32b64540a7" /><Relationship Type="http://schemas.openxmlformats.org/officeDocument/2006/relationships/slide" Target="/ppt/slides/slide2.xml" Id="Rccc01ee4e3fa487a" /><Relationship Type="http://schemas.openxmlformats.org/officeDocument/2006/relationships/slide" Target="/ppt/slides/slide3.xml" Id="R87f60c927dce4531" /><Relationship Type="http://schemas.openxmlformats.org/officeDocument/2006/relationships/slide" Target="/ppt/slides/slide4.xml" Id="R1384fd1644f640b1" /><Relationship Type="http://schemas.openxmlformats.org/officeDocument/2006/relationships/slide" Target="/ppt/slides/slide5.xml" Id="R5f48dea771f04e26" /><Relationship Type="http://schemas.openxmlformats.org/officeDocument/2006/relationships/slide" Target="/ppt/slides/slide6.xml" Id="R5ef6998cdd774c89" /><Relationship Type="http://schemas.openxmlformats.org/officeDocument/2006/relationships/slide" Target="/ppt/slides/slide7.xml" Id="R0fabfad9c6fa40c5" /><Relationship Type="http://schemas.openxmlformats.org/officeDocument/2006/relationships/slide" Target="/ppt/slides/slide8.xml" Id="Rf48016b9d0324f52" /><Relationship Type="http://schemas.openxmlformats.org/officeDocument/2006/relationships/slide" Target="/ppt/slides/slide9.xml" Id="Rce94c6816a9649b7" /><Relationship Type="http://schemas.openxmlformats.org/officeDocument/2006/relationships/slide" Target="/ppt/slides/slide10.xml" Id="Rf3d4b4c07d0845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19abf2bc904d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ce5ff49b754aa6" /><Relationship Type="http://schemas.openxmlformats.org/officeDocument/2006/relationships/notesMaster" Target="/ppt/notesMasters/notesMaster1.xml" Id="R01515e21302142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14177c4e9347df" /><Relationship Type="http://schemas.openxmlformats.org/officeDocument/2006/relationships/notesMaster" Target="/ppt/notesMasters/notesMaster1.xml" Id="R2b0a52445bcc4f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5d708aa9024c70" /><Relationship Type="http://schemas.openxmlformats.org/officeDocument/2006/relationships/notesMaster" Target="/ppt/notesMasters/notesMaster1.xml" Id="R62ed6f4db1b744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8aa2b50c17427b" /><Relationship Type="http://schemas.openxmlformats.org/officeDocument/2006/relationships/notesMaster" Target="/ppt/notesMasters/notesMaster1.xml" Id="R7b53e948e32840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9234fa228f430e" /><Relationship Type="http://schemas.openxmlformats.org/officeDocument/2006/relationships/notesMaster" Target="/ppt/notesMasters/notesMaster1.xml" Id="R98523756a1454a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41cf17be9149a2" /><Relationship Type="http://schemas.openxmlformats.org/officeDocument/2006/relationships/notesMaster" Target="/ppt/notesMasters/notesMaster1.xml" Id="Re7077cec86db42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430f5c604f4913" /><Relationship Type="http://schemas.openxmlformats.org/officeDocument/2006/relationships/notesMaster" Target="/ppt/notesMasters/notesMaster1.xml" Id="R3565318af43a4a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ce28901aca4693" /><Relationship Type="http://schemas.openxmlformats.org/officeDocument/2006/relationships/notesMaster" Target="/ppt/notesMasters/notesMaster1.xml" Id="R97b64aab9f874c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cbdfdacdba4e8c" /><Relationship Type="http://schemas.openxmlformats.org/officeDocument/2006/relationships/notesMaster" Target="/ppt/notesMasters/notesMaster1.xml" Id="R5c8ad08e5c9c4b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519c9c6a3a4a27" /><Relationship Type="http://schemas.openxmlformats.org/officeDocument/2006/relationships/notesMaster" Target="/ppt/notesMasters/notesMaster1.xml" Id="R440cde02a8e94e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show our first Virtual EIR prototype, built on my existing GOAT AI platform. The goal is continuity: when a founder returns, the coach should use the project background and the actual results of the previous action. This is a local demonstration with a fictional venture.</a:t>
            </a:r>
          </a:p>
          <a:p xmlns:a="http://schemas.openxmlformats.org/drawingml/2006/main">
            <a:r>
              <a:t/>
            </a:r>
          </a:p>
          <a:p xmlns:a="http://schemas.openxmlformats.org/drawingml/2006/main">
            <a:r>
              <a:t>SOURCES (internal project files unless a URL is shown)</a:t>
            </a:r>
          </a:p>
          <a:p xmlns:a="http://schemas.openxmlformats.org/drawingml/2006/main">
            <a:r>
              <a:t>docs/WEEKLY_DELIVERABLES.md</a:t>
            </a:r>
          </a:p>
          <a:p xmlns:a="http://schemas.openxmlformats.org/drawingml/2006/main">
            <a:r>
              <a:t>https://github.com/mingzhi0119/GOAT_AI/tree/9788ffab4a70f3dec6406778d1dc26f302b762f8</a:t>
            </a:r>
          </a:p>
          <a:p xmlns:a="http://schemas.openxmlformats.org/drawingml/2006/main">
            <a:r>
              <a:t>docs/archive/2026-10-08-goat-reuse.md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our last discussion, we proposed a user journey, an entrepreneur profile, and a coaching framework. We also proposed an initial session and a follow-up using a mock venture. Those drafts now have a working text prototype behind them. I am bringing the flow and its limitations for feedback rather than claiming that the coaching method is already validated.</a:t>
            </a:r>
          </a:p>
          <a:p xmlns:a="http://schemas.openxmlformats.org/drawingml/2006/main">
            <a:r>
              <a:t/>
            </a:r>
          </a:p>
          <a:p xmlns:a="http://schemas.openxmlformats.org/drawingml/2006/main">
            <a:r>
              <a:t>SOURCES (internal project files unless a URL is shown)</a:t>
            </a:r>
          </a:p>
          <a:p xmlns:a="http://schemas.openxmlformats.org/drawingml/2006/main">
            <a:r>
              <a:t>https://chatgpt.com/s/cx_6ac7ea276e00819180185b7e9114a6db</a:t>
            </a:r>
          </a:p>
          <a:p xmlns:a="http://schemas.openxmlformats.org/drawingml/2006/main">
            <a:r>
              <a:t>docs/WEEKLY_DELIVERABLES.md</a:t>
            </a:r>
          </a:p>
          <a:p xmlns:a="http://schemas.openxmlformats.org/drawingml/2006/main">
            <a:r>
              <a:t>docs/PROTOTYPE_BRIEF.md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GOAT already provided the general chat platform and local model connection. The Capstone work adds explicit venture state: what the founder assumes, what evidence they report, what action they planned, and what they actually completed. The new service uses GOAT’s existing chat endpoint. I keep the original platform and the new contribution clearly separate in the repository.</a:t>
            </a:r>
          </a:p>
          <a:p xmlns:a="http://schemas.openxmlformats.org/drawingml/2006/main">
            <a:r>
              <a:t/>
            </a:r>
          </a:p>
          <a:p xmlns:a="http://schemas.openxmlformats.org/drawingml/2006/main">
            <a:r>
              <a:t>SOURCES (internal project files unless a URL is shown)</a:t>
            </a:r>
          </a:p>
          <a:p xmlns:a="http://schemas.openxmlformats.org/drawingml/2006/main">
            <a:r>
              <a:t>https://github.com/mingzhi0119/GOAT_AI/tree/9788ffab4a70f3dec6406778d1dc26f302b762f8</a:t>
            </a:r>
          </a:p>
          <a:p xmlns:a="http://schemas.openxmlformats.org/drawingml/2006/main">
            <a:r>
              <a:t>https://github.com/mingzhi0119/Virtual-EIR-Capstone</a:t>
            </a:r>
          </a:p>
          <a:p xmlns:a="http://schemas.openxmlformats.org/drawingml/2006/main">
            <a:r>
              <a:t>docs/archive/2026-10-08-goat-reuse.md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fictional founder wants to offer campus dinner delivery. They assume that students care most about speed, but they have no interviews yet and can interview at most five people this week. The coach asks about recent dinner experiences and existing alternatives, then proposes five interviews. The founder reviews and saves the plan. The assistant cannot mark that work as completed.</a:t>
            </a:r>
          </a:p>
          <a:p xmlns:a="http://schemas.openxmlformats.org/drawingml/2006/main">
            <a:r>
              <a:t/>
            </a:r>
          </a:p>
          <a:p xmlns:a="http://schemas.openxmlformats.org/drawingml/2006/main">
            <a:r>
              <a:t>SOURCES (internal project files unless a URL is shown)</a:t>
            </a:r>
          </a:p>
          <a:p xmlns:a="http://schemas.openxmlformats.org/drawingml/2006/main">
            <a:r>
              <a:t>docs/archive/2026-10-08-real-demo.json</a:t>
            </a:r>
          </a:p>
          <a:p xmlns:a="http://schemas.openxmlformats.org/drawingml/2006/main">
            <a:r>
              <a:t>docs/PROTOTYPE_BRIEF.md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follow-up, the founder saves two interview results. Both fictional students reported more concern about price than speed. I then create an entirely new session without pasting the old conversation. The coach reads the saved state, distinguishes five planned interviews from two completed interviews, and recommends exploring price and alternatives in the remaining three. It also warns that two interviews cannot establish market demand.</a:t>
            </a:r>
          </a:p>
          <a:p xmlns:a="http://schemas.openxmlformats.org/drawingml/2006/main">
            <a:r>
              <a:t/>
            </a:r>
          </a:p>
          <a:p xmlns:a="http://schemas.openxmlformats.org/drawingml/2006/main">
            <a:r>
              <a:t>SOURCES (internal project files unless a URL is shown)</a:t>
            </a:r>
          </a:p>
          <a:p xmlns:a="http://schemas.openxmlformats.org/drawingml/2006/main">
            <a:r>
              <a:t>docs/archive/2026-10-08-real-demo.json</a:t>
            </a:r>
          </a:p>
          <a:p xmlns:a="http://schemas.openxmlformats.org/drawingml/2006/main">
            <a:r>
              <a:t>docs/archive/2026-10-08-goat-reuse.md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coaching framework starts with clarification and evidence, followed by a small action and a return visit. The important control is founder confirmation. The founder can correct the profile and the results, while the model only proposes changes. We preserve revisions and full conversation records. Automatic summaries and automatic fact extraction remain future work.</a:t>
            </a:r>
          </a:p>
          <a:p xmlns:a="http://schemas.openxmlformats.org/drawingml/2006/main">
            <a:r>
              <a:t/>
            </a:r>
          </a:p>
          <a:p xmlns:a="http://schemas.openxmlformats.org/drawingml/2006/main">
            <a:r>
              <a:t>SOURCES (internal project files unless a URL is shown)</a:t>
            </a:r>
          </a:p>
          <a:p xmlns:a="http://schemas.openxmlformats.org/drawingml/2006/main">
            <a:r>
              <a:t>docs/PROTOTYPE_BRIEF.md</a:t>
            </a:r>
          </a:p>
          <a:p xmlns:a="http://schemas.openxmlformats.org/drawingml/2006/main">
            <a:r>
              <a:t>docs/archive/2026-10-08-goat-reuse.md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verified complete local model replies, context in a new session, profile correction, and recovery after restarting the service. These checks demonstrate the flow and persistence. They do not demonstrate expert coaching quality. Some model questions still risk leading the respondent. The prototype also lacks user authentication and has unresolved dependency warnings, so I restrict it to local fictional cases.</a:t>
            </a:r>
          </a:p>
          <a:p xmlns:a="http://schemas.openxmlformats.org/drawingml/2006/main">
            <a:r>
              <a:t/>
            </a:r>
          </a:p>
          <a:p xmlns:a="http://schemas.openxmlformats.org/drawingml/2006/main">
            <a:r>
              <a:t>SOURCES (internal project files unless a URL is shown)</a:t>
            </a:r>
          </a:p>
          <a:p xmlns:a="http://schemas.openxmlformats.org/drawingml/2006/main">
            <a:r>
              <a:t>docs/archive/2026-10-08-goat-reuse.md</a:t>
            </a:r>
          </a:p>
          <a:p xmlns:a="http://schemas.openxmlformats.org/drawingml/2006/main">
            <a:r>
              <a:t>docs/archive/2026-10-08-real-demo.json</a:t>
            </a:r>
          </a:p>
          <a:p xmlns:a="http://schemas.openxmlformats.org/drawingml/2006/main">
            <a:r>
              <a:t>docs/archive/2026-10-08-ui-proof.json</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to use this concrete example to refine our questions for Ain. I would value feedback on missing intake information and whether the follow-up questions lead to useful validation work. We would also like an approved mentoring template or anonymized case, if available. After that, we can assess several fictional ventures with a consistent rubric. Local testing needs no API key today.</a:t>
            </a:r>
          </a:p>
          <a:p xmlns:a="http://schemas.openxmlformats.org/drawingml/2006/main">
            <a:r>
              <a:t/>
            </a:r>
          </a:p>
          <a:p xmlns:a="http://schemas.openxmlformats.org/drawingml/2006/main">
            <a:r>
              <a:t>SOURCES (internal project files unless a URL is shown)</a:t>
            </a:r>
          </a:p>
          <a:p xmlns:a="http://schemas.openxmlformats.org/drawingml/2006/main">
            <a:r>
              <a:t>docs/WEEKLY_DELIVERABLES.md</a:t>
            </a:r>
          </a:p>
          <a:p xmlns:a="http://schemas.openxmlformats.org/drawingml/2006/main">
            <a:r>
              <a:t>docs/PROTOTYPE_BRIEF.md</a:t>
            </a:r>
          </a:p>
          <a:p xmlns:a="http://schemas.openxmlformats.org/drawingml/2006/main">
            <a:r>
              <a:t>docs/archive/2026-10-08-goat-reuse.md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only if the audience asks about implementation. GOAT and EIR run as separate loopback services. EIR loads confirmed state and current-session history, then calls the existing GOAT SSE endpoint. Local checks passed. Remote Windows CI revealed path-comparison failures that an earlier success status masked. We reproduced and fixed those assertions, and the remote rerun is pending. The source syncs through private GitHub. Models and databases require separate installation or backup.</a:t>
            </a:r>
          </a:p>
          <a:p xmlns:a="http://schemas.openxmlformats.org/drawingml/2006/main">
            <a:r>
              <a:t/>
            </a:r>
          </a:p>
          <a:p xmlns:a="http://schemas.openxmlformats.org/drawingml/2006/main">
            <a:r>
              <a:t>SOURCES (internal project files unless a URL is shown)</a:t>
            </a:r>
          </a:p>
          <a:p xmlns:a="http://schemas.openxmlformats.org/drawingml/2006/main">
            <a:r>
              <a:t>docs/archive/2026-10-08-goat-reuse.md</a:t>
            </a:r>
          </a:p>
          <a:p xmlns:a="http://schemas.openxmlformats.org/drawingml/2006/main">
            <a:r>
              <a:t>https://github.com/mingzhi0119/Virtual-EIR-Capstone</a:t>
            </a:r>
          </a:p>
          <a:p xmlns:a="http://schemas.openxmlformats.org/drawingml/2006/main">
            <a:r>
              <a:t>https://github.com/mingzhi0119/GOAT_AI/pull/28</a:t>
            </a:r>
          </a:p>
          <a:p xmlns:a="http://schemas.openxmlformats.org/drawingml/2006/main">
            <a:r>
              <a:t>https://github.com/mingzhi0119/GOAT_AI/pull/29</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 live model call fails or runs slowly, explain that the next output is a recorded test from October 8, not a live response. The original Chinese input and output are in the evidence file. The English descriptions on the slides paraphrase those records. No real interviews or real founder data appear in the demonstration.</a:t>
            </a:r>
          </a:p>
          <a:p xmlns:a="http://schemas.openxmlformats.org/drawingml/2006/main">
            <a:r>
              <a:t/>
            </a:r>
          </a:p>
          <a:p xmlns:a="http://schemas.openxmlformats.org/drawingml/2006/main">
            <a:r>
              <a:t>SOURCES (internal project files unless a URL is shown)</a:t>
            </a:r>
          </a:p>
          <a:p xmlns:a="http://schemas.openxmlformats.org/drawingml/2006/main">
            <a:r>
              <a:t>docs/archive/2026-10-08-real-demo.json</a:t>
            </a:r>
          </a:p>
          <a:p xmlns:a="http://schemas.openxmlformats.org/drawingml/2006/main">
            <a:r>
              <a:t>docs/archive/2026-10-08-goat-reuse.md</a:t>
            </a:r>
          </a:p>
          <a:p xmlns:a="http://schemas.openxmlformats.org/drawingml/2006/main">
            <a:r>
              <a:t/>
            </a:r>
          </a:p>
          <a:p xmlns:a="http://schemas.openxmlformats.org/drawingml/2006/main">
            <a:r>
              <a:t>STATUS: fictional local prototype. Faculty/EIR review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6e9e90a6784e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2aa01c0e944eb2" /><Relationship Type="http://schemas.openxmlformats.org/officeDocument/2006/relationships/slideLayout" Target="/ppt/slideLayouts/slideLayout1.xml" Id="R8d5ca4e480ec4f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5ca4e480ec4f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d548062aee42f1" /><Relationship Type="http://schemas.openxmlformats.org/officeDocument/2006/relationships/notesSlide" Target="/ppt/notesSlides/notesSlide1.xml" Id="R060dae9510f443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e4606302ff4c0b" /><Relationship Type="http://schemas.openxmlformats.org/officeDocument/2006/relationships/notesSlide" Target="/ppt/notesSlides/notesSlide2.xml" Id="Rddbbe3edcada41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cc8b50c3484a36" /><Relationship Type="http://schemas.openxmlformats.org/officeDocument/2006/relationships/notesSlide" Target="/ppt/notesSlides/notesSlide3.xml" Id="R84424e2d8a1046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05c91b5f4b4f62" /><Relationship Type="http://schemas.openxmlformats.org/officeDocument/2006/relationships/notesSlide" Target="/ppt/notesSlides/notesSlide4.xml" Id="R7e68eec0a4b948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1f231f769f471a" /><Relationship Type="http://schemas.openxmlformats.org/officeDocument/2006/relationships/notesSlide" Target="/ppt/notesSlides/notesSlide5.xml" Id="Rea4b7164d75a44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a3da83628a4f51" /><Relationship Type="http://schemas.openxmlformats.org/officeDocument/2006/relationships/notesSlide" Target="/ppt/notesSlides/notesSlide6.xml" Id="Ra33b63910f584b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8b2089d97c4bb8" /><Relationship Type="http://schemas.openxmlformats.org/officeDocument/2006/relationships/notesSlide" Target="/ppt/notesSlides/notesSlide7.xml" Id="R20194e37cf3f4e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5ca3da05d64b86" /><Relationship Type="http://schemas.openxmlformats.org/officeDocument/2006/relationships/notesSlide" Target="/ppt/notesSlides/notesSlide8.xml" Id="R9e45a1fb3a8e40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54bc0cda2448a9" /><Relationship Type="http://schemas.openxmlformats.org/officeDocument/2006/relationships/notesSlide" Target="/ppt/notesSlides/notesSlide9.xml" Id="R4d44fdfbcda940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ea5d3751ef4f65" /><Relationship Type="http://schemas.openxmlformats.org/officeDocument/2006/relationships/notesSlide" Target="/ppt/notesSlides/notesSlide10.xml" Id="R362bb0aaac694eb1" /></Relationships>
</file>

<file path=ppt/slides/slide1.xml><?xml version="1.0" encoding="utf-8"?>
<p:sld xmlns:p="http://schemas.openxmlformats.org/presentationml/2006/main">
  <p:cSld>
    <p:bg>
      <p:bgPr>
        <a:solidFill xmlns:a="http://schemas.openxmlformats.org/drawingml/2006/main">
          <a:srgbClr val="172B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9E6B24-6330-4928-AAF0-C854D21FA47D}"/>
              </a:ext>
            </a:extLst>
          </p:cNvPr>
          <p:cNvSpPr>
            <a:spLocks xmlns:a="http://schemas.openxmlformats.org/drawingml/2006/main" noGrp="1"/>
          </p:cNvSpPr>
          <p:nvPr/>
        </p:nvSpPr>
        <p:spPr>
          <a:xfrm xmlns:a="http://schemas.openxmlformats.org/drawingml/2006/main">
            <a:off x="685800" y="16954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Virtual EIR</a:t>
            </a:r>
          </a:p>
        </p:txBody>
      </p:sp>
      <p:sp>
        <p:nvSpPr>
          <p:cNvPr id="2" name="">
            <a:extLst xmlns:a="http://schemas.openxmlformats.org/drawingml/2006/main">
              <a:ext uri="{FF2B5EF4-FFF2-40B4-BE49-F238E27FC236}">
                <a16:creationId xmlns:a16="http://schemas.microsoft.com/office/drawing/2014/main" id="{40FA3E34-0418-4525-A52F-689448C10586}"/>
              </a:ext>
            </a:extLst>
          </p:cNvPr>
          <p:cNvSpPr>
            <a:spLocks xmlns:a="http://schemas.openxmlformats.org/drawingml/2006/main" noGrp="1"/>
          </p:cNvSpPr>
          <p:nvPr/>
        </p:nvSpPr>
        <p:spPr>
          <a:xfrm xmlns:a="http://schemas.openxmlformats.org/drawingml/2006/main">
            <a:off x="685800" y="2981325"/>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D5EBE4"/>
                </a:solidFill>
                <a:latin typeface="Arial"/>
                <a:ea typeface="Arial"/>
                <a:cs typeface="Arial"/>
              </a:defRPr>
            </a:pPr>
            <a:r>
              <a:rPr sz="2700" b="0">
                <a:solidFill>
                  <a:srgbClr val="D5EBE4"/>
                </a:solidFill>
                <a:latin typeface="Arial"/>
                <a:ea typeface="Arial"/>
                <a:cs typeface="Arial"/>
              </a:rPr>
              <a:t>A local prototype for continuous founder coaching</a:t>
            </a:r>
          </a:p>
        </p:txBody>
      </p:sp>
      <p:sp>
        <p:nvSpPr>
          <p:cNvPr id="3" name="">
            <a:extLst xmlns:a="http://schemas.openxmlformats.org/drawingml/2006/main">
              <a:ext uri="{FF2B5EF4-FFF2-40B4-BE49-F238E27FC236}">
                <a16:creationId xmlns:a16="http://schemas.microsoft.com/office/drawing/2014/main" id="{AC0BE186-2D19-4F1C-9BE0-453FBA0C302B}"/>
              </a:ext>
            </a:extLst>
          </p:cNvPr>
          <p:cNvSpPr>
            <a:spLocks xmlns:a="http://schemas.openxmlformats.org/drawingml/2006/main" noGrp="1"/>
          </p:cNvSpPr>
          <p:nvPr/>
        </p:nvSpPr>
        <p:spPr>
          <a:xfrm xmlns:a="http://schemas.openxmlformats.org/drawingml/2006/main">
            <a:off x="685800" y="5057775"/>
            <a:ext cx="1000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5EBE4"/>
                </a:solidFill>
                <a:latin typeface="Arial"/>
                <a:ea typeface="Arial"/>
                <a:cs typeface="Arial"/>
              </a:defRPr>
            </a:pPr>
            <a:r>
              <a:rPr sz="1875" b="0">
                <a:solidFill>
                  <a:srgbClr val="D5EBE4"/>
                </a:solidFill>
                <a:latin typeface="Arial"/>
                <a:ea typeface="Arial"/>
                <a:cs typeface="Arial"/>
              </a:rPr>
              <a:t>Mingzhi</a:t>
            </a:r>
          </a:p>
          <a:p xmlns:a="http://schemas.openxmlformats.org/drawingml/2006/main">
            <a:pPr>
              <a:defRPr sz="1875" b="0">
                <a:solidFill>
                  <a:srgbClr val="D5EBE4"/>
                </a:solidFill>
                <a:latin typeface="Arial"/>
                <a:ea typeface="Arial"/>
                <a:cs typeface="Arial"/>
              </a:defRPr>
            </a:pPr>
            <a:r>
              <a:rPr sz="1875" b="0">
                <a:solidFill>
                  <a:srgbClr val="D5EBE4"/>
                </a:solidFill>
                <a:latin typeface="Arial"/>
                <a:ea typeface="Arial"/>
                <a:cs typeface="Arial"/>
              </a:rPr>
              <a:t>Faculty discussion draft, 8 October 2026</a:t>
            </a:r>
          </a:p>
        </p:txBody>
      </p:sp>
    </p:spTree>
    <p:extLst>
      <p:ext uri="{BB962C8B-B14F-4D97-AF65-F5344CB8AC3E}">
        <p14:creationId xmlns:p14="http://schemas.microsoft.com/office/powerpoint/2010/main" val="21058198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CFD3D8-4B3C-4773-860A-4B961099050E}"/>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This week’s agreed scope</a:t>
            </a:r>
          </a:p>
        </p:txBody>
      </p:sp>
      <p:graphicFrame>
        <p:nvGraphicFramePr>
          <p:cNvPr id="6" name=""/>
          <p:cNvGraphicFramePr/>
          <p:nvPr/>
        </p:nvGraphicFramePr>
        <p:xfrm>
          <a:off xmlns:a="http://schemas.openxmlformats.org/drawingml/2006/main" x="685800" y="1619250"/>
          <a:ext xmlns:a="http://schemas.openxmlformats.org/drawingml/2006/main" cx="10820400" cy="3524250"/>
        </p:xfrm>
        <a:graphic xmlns:a="http://schemas.openxmlformats.org/drawingml/2006/main">
          <a:graphicData uri="http://schemas.openxmlformats.org/drawingml/2006/table">
            <a:tbl>
              <a:tblPr/>
              <a:tblGrid>
                <a:gridCol w="4333875"/>
                <a:gridCol w="6486525"/>
              </a:tblGrid>
              <a:tr h="587375">
                <a:tc>
                  <a:txBody>
                    <a:bodyPr lIns="152400" tIns="114300" rIns="152400" bIns="95250">
                      <a:noAutofit/>
                    </a:bodyPr>
                    <a:lstStyle/>
                    <a:p>
                      <a:r>
                        <a:rPr sz="1875" b="1">
                          <a:solidFill>
                            <a:srgbClr val="FFFFFF"/>
                          </a:solidFill>
                          <a:latin typeface="Arial"/>
                          <a:ea typeface="Arial"/>
                          <a:cs typeface="Arial"/>
                        </a:rPr>
                        <a:t>Meeting direction</a:t>
                      </a:r>
                    </a:p>
                  </a:txBody>
                  <a:tcPr marL="91440" marR="91440" marT="45720" marB="45720" anchor="ctr">
                    <a:solidFill>
                      <a:srgbClr val="15635D"/>
                    </a:solidFill>
                  </a:tcPr>
                </a:tc>
                <a:tc>
                  <a:txBody>
                    <a:bodyPr lIns="152400" tIns="114300" rIns="152400" bIns="95250">
                      <a:noAutofit/>
                    </a:bodyPr>
                    <a:lstStyle/>
                    <a:p>
                      <a:r>
                        <a:rPr sz="1875" b="1">
                          <a:solidFill>
                            <a:srgbClr val="FFFFFF"/>
                          </a:solidFill>
                          <a:latin typeface="Arial"/>
                          <a:ea typeface="Arial"/>
                          <a:cs typeface="Arial"/>
                        </a:rPr>
                        <a:t>Current deliverable</a:t>
                      </a:r>
                    </a:p>
                  </a:txBody>
                  <a:tcPr marL="91440" marR="91440" marT="45720" marB="45720" anchor="ctr">
                    <a:solidFill>
                      <a:srgbClr val="15635D"/>
                    </a:solidFill>
                  </a:tcPr>
                </a:tc>
              </a:tr>
              <a:tr h="587375">
                <a:tc>
                  <a:txBody>
                    <a:bodyPr lIns="152400" tIns="114300" rIns="152400" bIns="95250">
                      <a:noAutofit/>
                    </a:bodyPr>
                    <a:lstStyle/>
                    <a:p>
                      <a:r>
                        <a:rPr sz="1875" b="0">
                          <a:solidFill>
                            <a:srgbClr val="172B3A"/>
                          </a:solidFill>
                          <a:latin typeface="Arial"/>
                          <a:ea typeface="Arial"/>
                          <a:cs typeface="Arial"/>
                        </a:rPr>
                        <a:t>User journey</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Draft flow for intake and return visits</a:t>
                      </a:r>
                    </a:p>
                  </a:txBody>
                  <a:tcPr marL="91440" marR="91440" marT="45720" marB="45720" anchor="ctr">
                    <a:solidFill>
                      <a:srgbClr val="FFFFFF"/>
                    </a:solidFill>
                  </a:tcPr>
                </a:tc>
              </a:tr>
              <a:tr h="587375">
                <a:tc>
                  <a:txBody>
                    <a:bodyPr lIns="152400" tIns="114300" rIns="152400" bIns="95250">
                      <a:noAutofit/>
                    </a:bodyPr>
                    <a:lstStyle/>
                    <a:p>
                      <a:r>
                        <a:rPr sz="1875" b="0">
                          <a:solidFill>
                            <a:srgbClr val="172B3A"/>
                          </a:solidFill>
                          <a:latin typeface="Arial"/>
                          <a:ea typeface="Arial"/>
                          <a:cs typeface="Arial"/>
                        </a:rPr>
                        <a:t>Entrepreneur profile</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Draft template and editable saved state</a:t>
                      </a:r>
                    </a:p>
                  </a:txBody>
                  <a:tcPr marL="91440" marR="91440" marT="45720" marB="45720" anchor="ctr">
                    <a:solidFill>
                      <a:srgbClr val="F8FAF9"/>
                    </a:solidFill>
                  </a:tcPr>
                </a:tc>
              </a:tr>
              <a:tr h="587375">
                <a:tc>
                  <a:txBody>
                    <a:bodyPr lIns="152400" tIns="114300" rIns="152400" bIns="95250">
                      <a:noAutofit/>
                    </a:bodyPr>
                    <a:lstStyle/>
                    <a:p>
                      <a:r>
                        <a:rPr sz="1875" b="0">
                          <a:solidFill>
                            <a:srgbClr val="172B3A"/>
                          </a:solidFill>
                          <a:latin typeface="Arial"/>
                          <a:ea typeface="Arial"/>
                          <a:cs typeface="Arial"/>
                        </a:rPr>
                        <a:t>Coaching framework</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Draft questions, evidence checks and actions</a:t>
                      </a:r>
                    </a:p>
                  </a:txBody>
                  <a:tcPr marL="91440" marR="91440" marT="45720" marB="45720" anchor="ctr">
                    <a:solidFill>
                      <a:srgbClr val="FFFFFF"/>
                    </a:solidFill>
                  </a:tcPr>
                </a:tc>
              </a:tr>
              <a:tr h="587375">
                <a:tc>
                  <a:txBody>
                    <a:bodyPr lIns="152400" tIns="114300" rIns="152400" bIns="95250">
                      <a:noAutofit/>
                    </a:bodyPr>
                    <a:lstStyle/>
                    <a:p>
                      <a:r>
                        <a:rPr sz="1875" b="0">
                          <a:solidFill>
                            <a:srgbClr val="172B3A"/>
                          </a:solidFill>
                          <a:latin typeface="Arial"/>
                          <a:ea typeface="Arial"/>
                          <a:cs typeface="Arial"/>
                        </a:rPr>
                        <a:t>Two-session example</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Real local model run with fictional data</a:t>
                      </a:r>
                    </a:p>
                  </a:txBody>
                  <a:tcPr marL="91440" marR="91440" marT="45720" marB="45720" anchor="ctr">
                    <a:solidFill>
                      <a:srgbClr val="F8FAF9"/>
                    </a:solidFill>
                  </a:tcPr>
                </a:tc>
              </a:tr>
              <a:tr h="587375">
                <a:tc>
                  <a:txBody>
                    <a:bodyPr lIns="152400" tIns="114300" rIns="152400" bIns="95250">
                      <a:noAutofit/>
                    </a:bodyPr>
                    <a:lstStyle/>
                    <a:p>
                      <a:r>
                        <a:rPr sz="1875" b="0">
                          <a:solidFill>
                            <a:srgbClr val="172B3A"/>
                          </a:solidFill>
                          <a:latin typeface="Arial"/>
                          <a:ea typeface="Arial"/>
                          <a:cs typeface="Arial"/>
                        </a:rPr>
                        <a:t>Text prototype</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Working chat with confirmed project context</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4F5F40A-837E-4316-8C0E-420DEDB999C6}"/>
              </a:ext>
            </a:extLst>
          </p:cNvPr>
          <p:cNvSpPr>
            <a:spLocks xmlns:a="http://schemas.openxmlformats.org/drawingml/2006/main" noGrp="1"/>
          </p:cNvSpPr>
          <p:nvPr/>
        </p:nvSpPr>
        <p:spPr>
          <a:xfrm xmlns:a="http://schemas.openxmlformats.org/drawingml/2006/main">
            <a:off x="685800" y="5476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B626D"/>
                </a:solidFill>
                <a:latin typeface="Arial"/>
                <a:ea typeface="Arial"/>
                <a:cs typeface="Arial"/>
              </a:defRPr>
            </a:pPr>
            <a:r>
              <a:rPr sz="1875" b="0">
                <a:solidFill>
                  <a:srgbClr val="4B626D"/>
                </a:solidFill>
                <a:latin typeface="Arial"/>
                <a:ea typeface="Arial"/>
                <a:cs typeface="Arial"/>
              </a:rPr>
              <a:t>Drafts and prototype await faculty and EIR review</a:t>
            </a:r>
          </a:p>
        </p:txBody>
      </p:sp>
      <p:sp>
        <p:nvSpPr>
          <p:cNvPr id="4" name="">
            <a:extLst xmlns:a="http://schemas.openxmlformats.org/drawingml/2006/main">
              <a:ext uri="{FF2B5EF4-FFF2-40B4-BE49-F238E27FC236}">
                <a16:creationId xmlns:a16="http://schemas.microsoft.com/office/drawing/2014/main" id="{C2FB6CC9-AE68-4DAB-B6D2-71C181E86BB4}"/>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2</a:t>
            </a:r>
          </a:p>
        </p:txBody>
      </p:sp>
    </p:spTree>
    <p:extLst>
      <p:ext uri="{BB962C8B-B14F-4D97-AF65-F5344CB8AC3E}">
        <p14:creationId xmlns:p14="http://schemas.microsoft.com/office/powerpoint/2010/main" val="20935343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DCD1A3-A30C-48AB-8175-92E645085EB3}"/>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Existing platform and new Capstone work</a:t>
            </a:r>
          </a:p>
        </p:txBody>
      </p:sp>
      <p:graphicFrame>
        <p:nvGraphicFramePr>
          <p:cNvPr id="6" name=""/>
          <p:cNvGraphicFramePr/>
          <p:nvPr/>
        </p:nvGraphicFramePr>
        <p:xfrm>
          <a:off xmlns:a="http://schemas.openxmlformats.org/drawingml/2006/main" x="685800" y="1619250"/>
          <a:ext xmlns:a="http://schemas.openxmlformats.org/drawingml/2006/main" cx="10820400" cy="3524250"/>
        </p:xfrm>
        <a:graphic xmlns:a="http://schemas.openxmlformats.org/drawingml/2006/main">
          <a:graphicData uri="http://schemas.openxmlformats.org/drawingml/2006/table">
            <a:tbl>
              <a:tblPr/>
              <a:tblGrid>
                <a:gridCol w="5191125"/>
                <a:gridCol w="5629275"/>
              </a:tblGrid>
              <a:tr h="704850">
                <a:tc>
                  <a:txBody>
                    <a:bodyPr lIns="152400" tIns="114300" rIns="152400" bIns="95250">
                      <a:noAutofit/>
                    </a:bodyPr>
                    <a:lstStyle/>
                    <a:p>
                      <a:r>
                        <a:rPr sz="1875" b="1">
                          <a:solidFill>
                            <a:srgbClr val="FFFFFF"/>
                          </a:solidFill>
                          <a:latin typeface="Arial"/>
                          <a:ea typeface="Arial"/>
                          <a:cs typeface="Arial"/>
                        </a:rPr>
                        <a:t>GOAT AI foundation</a:t>
                      </a:r>
                    </a:p>
                  </a:txBody>
                  <a:tcPr marL="91440" marR="91440" marT="45720" marB="45720" anchor="ctr">
                    <a:solidFill>
                      <a:srgbClr val="15635D"/>
                    </a:solidFill>
                  </a:tcPr>
                </a:tc>
                <a:tc>
                  <a:txBody>
                    <a:bodyPr lIns="152400" tIns="114300" rIns="152400" bIns="95250">
                      <a:noAutofit/>
                    </a:bodyPr>
                    <a:lstStyle/>
                    <a:p>
                      <a:r>
                        <a:rPr sz="1875" b="1">
                          <a:solidFill>
                            <a:srgbClr val="FFFFFF"/>
                          </a:solidFill>
                          <a:latin typeface="Arial"/>
                          <a:ea typeface="Arial"/>
                          <a:cs typeface="Arial"/>
                        </a:rPr>
                        <a:t>New Virtual EIR layer</a:t>
                      </a:r>
                    </a:p>
                  </a:txBody>
                  <a:tcPr marL="91440" marR="91440" marT="45720" marB="45720" anchor="ctr">
                    <a:solidFill>
                      <a:srgbClr val="15635D"/>
                    </a:solidFill>
                  </a:tcPr>
                </a:tc>
              </a:tr>
              <a:tr h="704850">
                <a:tc>
                  <a:txBody>
                    <a:bodyPr lIns="152400" tIns="114300" rIns="152400" bIns="95250">
                      <a:noAutofit/>
                    </a:bodyPr>
                    <a:lstStyle/>
                    <a:p>
                      <a:r>
                        <a:rPr sz="1875" b="0">
                          <a:solidFill>
                            <a:srgbClr val="172B3A"/>
                          </a:solidFill>
                          <a:latin typeface="Arial"/>
                          <a:ea typeface="Arial"/>
                          <a:cs typeface="Arial"/>
                        </a:rPr>
                        <a:t>React interface and FastAPI backend</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A focused founder-coaching interface</a:t>
                      </a:r>
                    </a:p>
                  </a:txBody>
                  <a:tcPr marL="91440" marR="91440" marT="45720" marB="45720" anchor="ctr">
                    <a:solidFill>
                      <a:srgbClr val="FFFFFF"/>
                    </a:solidFill>
                  </a:tcPr>
                </a:tc>
              </a:tr>
              <a:tr h="704850">
                <a:tc>
                  <a:txBody>
                    <a:bodyPr lIns="152400" tIns="114300" rIns="152400" bIns="95250">
                      <a:noAutofit/>
                    </a:bodyPr>
                    <a:lstStyle/>
                    <a:p>
                      <a:r>
                        <a:rPr sz="1875" b="0">
                          <a:solidFill>
                            <a:srgbClr val="172B3A"/>
                          </a:solidFill>
                          <a:latin typeface="Arial"/>
                          <a:ea typeface="Arial"/>
                          <a:cs typeface="Arial"/>
                        </a:rPr>
                        <a:t>Ollama chat and conversation history</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Context from the same venture in a new session</a:t>
                      </a:r>
                    </a:p>
                  </a:txBody>
                  <a:tcPr marL="91440" marR="91440" marT="45720" marB="45720" anchor="ctr">
                    <a:solidFill>
                      <a:srgbClr val="F8FAF9"/>
                    </a:solidFill>
                  </a:tcPr>
                </a:tc>
              </a:tr>
              <a:tr h="704850">
                <a:tc>
                  <a:txBody>
                    <a:bodyPr lIns="152400" tIns="114300" rIns="152400" bIns="95250">
                      <a:noAutofit/>
                    </a:bodyPr>
                    <a:lstStyle/>
                    <a:p>
                      <a:r>
                        <a:rPr sz="1875" b="0">
                          <a:solidFill>
                            <a:srgbClr val="172B3A"/>
                          </a:solidFill>
                          <a:latin typeface="Arial"/>
                          <a:ea typeface="Arial"/>
                          <a:cs typeface="Arial"/>
                        </a:rPr>
                        <a:t>Model selection and runtime services</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Confirmed profile, evidence and action records</a:t>
                      </a:r>
                    </a:p>
                  </a:txBody>
                  <a:tcPr marL="91440" marR="91440" marT="45720" marB="45720" anchor="ctr">
                    <a:solidFill>
                      <a:srgbClr val="FFFFFF"/>
                    </a:solidFill>
                  </a:tcPr>
                </a:tc>
              </a:tr>
              <a:tr h="704850">
                <a:tc>
                  <a:txBody>
                    <a:bodyPr lIns="152400" tIns="114300" rIns="152400" bIns="95250">
                      <a:noAutofit/>
                    </a:bodyPr>
                    <a:lstStyle/>
                    <a:p>
                      <a:r>
                        <a:rPr sz="1875" b="0">
                          <a:solidFill>
                            <a:srgbClr val="172B3A"/>
                          </a:solidFill>
                          <a:latin typeface="Arial"/>
                          <a:ea typeface="Arial"/>
                          <a:cs typeface="Arial"/>
                        </a:rPr>
                        <a:t>Existing test and contract tooling</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Correction, persistence and demo boundary tests</a:t>
                      </a:r>
                    </a:p>
                  </a:txBody>
                  <a:tcPr marL="91440" marR="91440" marT="45720" marB="45720" anchor="ctr">
                    <a:solidFill>
                      <a:srgbClr val="F8FAF9"/>
                    </a:solidFill>
                  </a:tcPr>
                </a:tc>
              </a:tr>
            </a:tbl>
          </a:graphicData>
        </a:graphic>
      </p:graphicFrame>
      <p:sp>
        <p:nvSpPr>
          <p:cNvPr id="3" name="">
            <a:extLst xmlns:a="http://schemas.openxmlformats.org/drawingml/2006/main">
              <a:ext uri="{FF2B5EF4-FFF2-40B4-BE49-F238E27FC236}">
                <a16:creationId xmlns:a16="http://schemas.microsoft.com/office/drawing/2014/main" id="{407F102B-6B51-447F-A5B6-3DD5C94721E0}"/>
              </a:ext>
            </a:extLst>
          </p:cNvPr>
          <p:cNvSpPr>
            <a:spLocks xmlns:a="http://schemas.openxmlformats.org/drawingml/2006/main" noGrp="1"/>
          </p:cNvSpPr>
          <p:nvPr/>
        </p:nvSpPr>
        <p:spPr>
          <a:xfrm xmlns:a="http://schemas.openxmlformats.org/drawingml/2006/main">
            <a:off x="685800" y="5476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B626D"/>
                </a:solidFill>
                <a:latin typeface="Arial"/>
                <a:ea typeface="Arial"/>
                <a:cs typeface="Arial"/>
              </a:defRPr>
            </a:pPr>
            <a:r>
              <a:rPr sz="1875" b="0">
                <a:solidFill>
                  <a:srgbClr val="4B626D"/>
                </a:solidFill>
                <a:latin typeface="Arial"/>
                <a:ea typeface="Arial"/>
                <a:cs typeface="Arial"/>
              </a:rPr>
              <a:t>Local Ollama with gemma4:26b on RTX 5090. No paid model API calls</a:t>
            </a:r>
          </a:p>
        </p:txBody>
      </p:sp>
      <p:sp>
        <p:nvSpPr>
          <p:cNvPr id="4" name="">
            <a:extLst xmlns:a="http://schemas.openxmlformats.org/drawingml/2006/main">
              <a:ext uri="{FF2B5EF4-FFF2-40B4-BE49-F238E27FC236}">
                <a16:creationId xmlns:a16="http://schemas.microsoft.com/office/drawing/2014/main" id="{C7A32373-0D9E-4DCE-8772-F5AF26046469}"/>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3</a:t>
            </a:r>
          </a:p>
        </p:txBody>
      </p:sp>
    </p:spTree>
    <p:extLst>
      <p:ext uri="{BB962C8B-B14F-4D97-AF65-F5344CB8AC3E}">
        <p14:creationId xmlns:p14="http://schemas.microsoft.com/office/powerpoint/2010/main" val="12603150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423F71-F17D-49F1-AA18-792291929864}"/>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First consultation: campus dinner delivery</a:t>
            </a:r>
          </a:p>
        </p:txBody>
      </p:sp>
      <p:sp>
        <p:nvSpPr>
          <p:cNvPr id="2" name="">
            <a:extLst xmlns:a="http://schemas.openxmlformats.org/drawingml/2006/main">
              <a:ext uri="{FF2B5EF4-FFF2-40B4-BE49-F238E27FC236}">
                <a16:creationId xmlns:a16="http://schemas.microsoft.com/office/drawing/2014/main" id="{93294526-0B00-40FA-95D8-9F7BD6BFB7B8}"/>
              </a:ext>
            </a:extLst>
          </p:cNvPr>
          <p:cNvSpPr>
            <a:spLocks xmlns:a="http://schemas.openxmlformats.org/drawingml/2006/main" noGrp="1"/>
          </p:cNvSpPr>
          <p:nvPr/>
        </p:nvSpPr>
        <p:spPr>
          <a:xfrm xmlns:a="http://schemas.openxmlformats.org/drawingml/2006/main">
            <a:off x="685800" y="1695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5635D"/>
                </a:solidFill>
                <a:latin typeface="Arial"/>
                <a:ea typeface="Arial"/>
                <a:cs typeface="Arial"/>
              </a:defRPr>
            </a:pPr>
            <a:r>
              <a:rPr sz="2250" b="1">
                <a:solidFill>
                  <a:srgbClr val="15635D"/>
                </a:solidFill>
                <a:latin typeface="Arial"/>
                <a:ea typeface="Arial"/>
                <a:cs typeface="Arial"/>
              </a:rPr>
              <a:t>Fictional founder</a:t>
            </a:r>
          </a:p>
        </p:txBody>
      </p:sp>
      <p:sp>
        <p:nvSpPr>
          <p:cNvPr id="3" name="">
            <a:extLst xmlns:a="http://schemas.openxmlformats.org/drawingml/2006/main">
              <a:ext uri="{FF2B5EF4-FFF2-40B4-BE49-F238E27FC236}">
                <a16:creationId xmlns:a16="http://schemas.microsoft.com/office/drawing/2014/main" id="{5AF2FE44-307A-4BC1-8A72-C641EC769230}"/>
              </a:ext>
            </a:extLst>
          </p:cNvPr>
          <p:cNvSpPr>
            <a:spLocks xmlns:a="http://schemas.openxmlformats.org/drawingml/2006/main" noGrp="1"/>
          </p:cNvSpPr>
          <p:nvPr/>
        </p:nvSpPr>
        <p:spPr>
          <a:xfrm xmlns:a="http://schemas.openxmlformats.org/drawingml/2006/main">
            <a:off x="685800" y="2333625"/>
            <a:ext cx="5095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Campus dinner delivery</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Idea stage, no interviews yet</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Hypothesis: speed matters most</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Capacity: five interviews this week</a:t>
            </a:r>
          </a:p>
        </p:txBody>
      </p:sp>
      <p:sp>
        <p:nvSpPr>
          <p:cNvPr id="4" name="">
            <a:extLst xmlns:a="http://schemas.openxmlformats.org/drawingml/2006/main">
              <a:ext uri="{FF2B5EF4-FFF2-40B4-BE49-F238E27FC236}">
                <a16:creationId xmlns:a16="http://schemas.microsoft.com/office/drawing/2014/main" id="{EDCF4D57-6A2C-4F98-8EA1-C7C58BE056DA}"/>
              </a:ext>
            </a:extLst>
          </p:cNvPr>
          <p:cNvSpPr>
            <a:spLocks xmlns:a="http://schemas.openxmlformats.org/drawingml/2006/main" noGrp="1"/>
          </p:cNvSpPr>
          <p:nvPr/>
        </p:nvSpPr>
        <p:spPr>
          <a:xfrm xmlns:a="http://schemas.openxmlformats.org/drawingml/2006/main">
            <a:off x="6477000" y="16954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5635D"/>
                </a:solidFill>
                <a:latin typeface="Arial"/>
                <a:ea typeface="Arial"/>
                <a:cs typeface="Arial"/>
              </a:defRPr>
            </a:pPr>
            <a:r>
              <a:rPr sz="2250" b="1">
                <a:solidFill>
                  <a:srgbClr val="15635D"/>
                </a:solidFill>
                <a:latin typeface="Arial"/>
                <a:ea typeface="Arial"/>
                <a:cs typeface="Arial"/>
              </a:rPr>
              <a:t>Initial coaching proposal</a:t>
            </a:r>
          </a:p>
        </p:txBody>
      </p:sp>
      <p:sp>
        <p:nvSpPr>
          <p:cNvPr id="5" name="">
            <a:extLst xmlns:a="http://schemas.openxmlformats.org/drawingml/2006/main">
              <a:ext uri="{FF2B5EF4-FFF2-40B4-BE49-F238E27FC236}">
                <a16:creationId xmlns:a16="http://schemas.microsoft.com/office/drawing/2014/main" id="{C31EAD37-26F5-4487-9A7E-3B61F4FFC170}"/>
              </a:ext>
            </a:extLst>
          </p:cNvPr>
          <p:cNvSpPr>
            <a:spLocks xmlns:a="http://schemas.openxmlformats.org/drawingml/2006/main" noGrp="1"/>
          </p:cNvSpPr>
          <p:nvPr/>
        </p:nvSpPr>
        <p:spPr>
          <a:xfrm xmlns:a="http://schemas.openxmlformats.org/drawingml/2006/main">
            <a:off x="6477000" y="2333625"/>
            <a:ext cx="5000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Ask about recent dinner experiences</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and existing alternatives.</a:t>
            </a:r>
          </a:p>
          <a:p xmlns:a="http://schemas.openxmlformats.org/drawingml/2006/main">
            <a:r>
              <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Interview five students and record</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behaviors, concerns and context.</a:t>
            </a:r>
          </a:p>
        </p:txBody>
      </p:sp>
      <p:sp>
        <p:nvSpPr>
          <p:cNvPr id="6" name="">
            <a:extLst xmlns:a="http://schemas.openxmlformats.org/drawingml/2006/main">
              <a:ext uri="{FF2B5EF4-FFF2-40B4-BE49-F238E27FC236}">
                <a16:creationId xmlns:a16="http://schemas.microsoft.com/office/drawing/2014/main" id="{C9F6BA29-DD19-4173-BA95-22FF767F4F03}"/>
              </a:ext>
            </a:extLst>
          </p:cNvPr>
          <p:cNvSpPr>
            <a:spLocks xmlns:a="http://schemas.openxmlformats.org/drawingml/2006/main" noGrp="1"/>
          </p:cNvSpPr>
          <p:nvPr/>
        </p:nvSpPr>
        <p:spPr>
          <a:xfrm xmlns:a="http://schemas.openxmlformats.org/drawingml/2006/main">
            <a:off x="685800" y="5429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B626D"/>
                </a:solidFill>
                <a:latin typeface="Arial"/>
                <a:ea typeface="Arial"/>
                <a:cs typeface="Arial"/>
              </a:defRPr>
            </a:pPr>
            <a:r>
              <a:rPr sz="1800" b="0">
                <a:solidFill>
                  <a:srgbClr val="4B626D"/>
                </a:solidFill>
                <a:latin typeface="Arial"/>
                <a:ea typeface="Arial"/>
                <a:cs typeface="Arial"/>
              </a:rPr>
              <a:t>Founder reviews and saves the plan. English paraphrase of the recorded Chinese response.</a:t>
            </a:r>
          </a:p>
        </p:txBody>
      </p:sp>
      <p:sp>
        <p:nvSpPr>
          <p:cNvPr id="7" name="">
            <a:extLst xmlns:a="http://schemas.openxmlformats.org/drawingml/2006/main">
              <a:ext uri="{FF2B5EF4-FFF2-40B4-BE49-F238E27FC236}">
                <a16:creationId xmlns:a16="http://schemas.microsoft.com/office/drawing/2014/main" id="{02C0B474-1D7F-46DA-884B-AA32A121A7C8}"/>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4</a:t>
            </a:r>
          </a:p>
        </p:txBody>
      </p:sp>
    </p:spTree>
    <p:extLst>
      <p:ext uri="{BB962C8B-B14F-4D97-AF65-F5344CB8AC3E}">
        <p14:creationId xmlns:p14="http://schemas.microsoft.com/office/powerpoint/2010/main" val="5699889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B7E4B7-38C7-4445-9914-1CCF466D4E6B}"/>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Follow-up: saved results change the advice</a:t>
            </a:r>
          </a:p>
        </p:txBody>
      </p:sp>
      <p:sp>
        <p:nvSpPr>
          <p:cNvPr id="2" name="">
            <a:extLst xmlns:a="http://schemas.openxmlformats.org/drawingml/2006/main">
              <a:ext uri="{FF2B5EF4-FFF2-40B4-BE49-F238E27FC236}">
                <a16:creationId xmlns:a16="http://schemas.microsoft.com/office/drawing/2014/main" id="{A9321341-65D2-4E87-B4EF-3FB295F905D8}"/>
              </a:ext>
            </a:extLst>
          </p:cNvPr>
          <p:cNvSpPr>
            <a:spLocks xmlns:a="http://schemas.openxmlformats.org/drawingml/2006/main" noGrp="1"/>
          </p:cNvSpPr>
          <p:nvPr/>
        </p:nvSpPr>
        <p:spPr>
          <a:xfrm xmlns:a="http://schemas.openxmlformats.org/drawingml/2006/main">
            <a:off x="685800" y="1562100"/>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750" b="1">
                <a:solidFill>
                  <a:srgbClr val="15635D"/>
                </a:solidFill>
                <a:latin typeface="Arial"/>
                <a:ea typeface="Arial"/>
                <a:cs typeface="Arial"/>
              </a:defRPr>
            </a:pPr>
            <a:r>
              <a:rPr sz="6750" b="1">
                <a:solidFill>
                  <a:srgbClr val="15635D"/>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5564B8E6-12B5-4E80-AF5C-26308583AA7F}"/>
              </a:ext>
            </a:extLst>
          </p:cNvPr>
          <p:cNvSpPr>
            <a:spLocks xmlns:a="http://schemas.openxmlformats.org/drawingml/2006/main" noGrp="1"/>
          </p:cNvSpPr>
          <p:nvPr/>
        </p:nvSpPr>
        <p:spPr>
          <a:xfrm xmlns:a="http://schemas.openxmlformats.org/drawingml/2006/main">
            <a:off x="685800" y="27432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Planned interviews</a:t>
            </a:r>
          </a:p>
        </p:txBody>
      </p:sp>
      <p:sp>
        <p:nvSpPr>
          <p:cNvPr id="4" name="">
            <a:extLst xmlns:a="http://schemas.openxmlformats.org/drawingml/2006/main">
              <a:ext uri="{FF2B5EF4-FFF2-40B4-BE49-F238E27FC236}">
                <a16:creationId xmlns:a16="http://schemas.microsoft.com/office/drawing/2014/main" id="{C0E27E1C-41EE-4BA9-B6EA-744CC3377D1D}"/>
              </a:ext>
            </a:extLst>
          </p:cNvPr>
          <p:cNvSpPr>
            <a:spLocks xmlns:a="http://schemas.openxmlformats.org/drawingml/2006/main" noGrp="1"/>
          </p:cNvSpPr>
          <p:nvPr/>
        </p:nvSpPr>
        <p:spPr>
          <a:xfrm xmlns:a="http://schemas.openxmlformats.org/drawingml/2006/main">
            <a:off x="4429125" y="1562100"/>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750" b="1">
                <a:solidFill>
                  <a:srgbClr val="15635D"/>
                </a:solidFill>
                <a:latin typeface="Arial"/>
                <a:ea typeface="Arial"/>
                <a:cs typeface="Arial"/>
              </a:defRPr>
            </a:pPr>
            <a:r>
              <a:rPr sz="6750" b="1">
                <a:solidFill>
                  <a:srgbClr val="15635D"/>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29828E57-0EA5-4612-87EB-F88CAF240A51}"/>
              </a:ext>
            </a:extLst>
          </p:cNvPr>
          <p:cNvSpPr>
            <a:spLocks xmlns:a="http://schemas.openxmlformats.org/drawingml/2006/main" noGrp="1"/>
          </p:cNvSpPr>
          <p:nvPr/>
        </p:nvSpPr>
        <p:spPr>
          <a:xfrm xmlns:a="http://schemas.openxmlformats.org/drawingml/2006/main">
            <a:off x="4429125" y="27432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Completed interviews</a:t>
            </a:r>
          </a:p>
        </p:txBody>
      </p:sp>
      <p:sp>
        <p:nvSpPr>
          <p:cNvPr id="6" name="">
            <a:extLst xmlns:a="http://schemas.openxmlformats.org/drawingml/2006/main">
              <a:ext uri="{FF2B5EF4-FFF2-40B4-BE49-F238E27FC236}">
                <a16:creationId xmlns:a16="http://schemas.microsoft.com/office/drawing/2014/main" id="{F5446FA2-54FE-473F-838A-1CAA9D9708EE}"/>
              </a:ext>
            </a:extLst>
          </p:cNvPr>
          <p:cNvSpPr>
            <a:spLocks xmlns:a="http://schemas.openxmlformats.org/drawingml/2006/main" noGrp="1"/>
          </p:cNvSpPr>
          <p:nvPr/>
        </p:nvSpPr>
        <p:spPr>
          <a:xfrm xmlns:a="http://schemas.openxmlformats.org/drawingml/2006/main">
            <a:off x="8239125" y="1562100"/>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750" b="1">
                <a:solidFill>
                  <a:srgbClr val="15635D"/>
                </a:solidFill>
                <a:latin typeface="Arial"/>
                <a:ea typeface="Arial"/>
                <a:cs typeface="Arial"/>
              </a:defRPr>
            </a:pPr>
            <a:r>
              <a:rPr sz="6750" b="1">
                <a:solidFill>
                  <a:srgbClr val="15635D"/>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3764FADF-1E20-4CC1-BC32-B56431EDF8E3}"/>
              </a:ext>
            </a:extLst>
          </p:cNvPr>
          <p:cNvSpPr>
            <a:spLocks xmlns:a="http://schemas.openxmlformats.org/drawingml/2006/main" noGrp="1"/>
          </p:cNvSpPr>
          <p:nvPr/>
        </p:nvSpPr>
        <p:spPr>
          <a:xfrm xmlns:a="http://schemas.openxmlformats.org/drawingml/2006/main">
            <a:off x="8239125" y="27432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Remaining interviews</a:t>
            </a:r>
          </a:p>
        </p:txBody>
      </p:sp>
      <p:sp>
        <p:nvSpPr>
          <p:cNvPr id="8" name="">
            <a:extLst xmlns:a="http://schemas.openxmlformats.org/drawingml/2006/main">
              <a:ext uri="{FF2B5EF4-FFF2-40B4-BE49-F238E27FC236}">
                <a16:creationId xmlns:a16="http://schemas.microsoft.com/office/drawing/2014/main" id="{49FDC22F-64E3-4880-B0FA-946DD1B4BC82}"/>
              </a:ext>
            </a:extLst>
          </p:cNvPr>
          <p:cNvSpPr>
            <a:spLocks xmlns:a="http://schemas.openxmlformats.org/drawingml/2006/main" noGrp="1"/>
          </p:cNvSpPr>
          <p:nvPr/>
        </p:nvSpPr>
        <p:spPr>
          <a:xfrm xmlns:a="http://schemas.openxmlformats.org/drawingml/2006/main">
            <a:off x="685800" y="36861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B3A"/>
                </a:solidFill>
                <a:latin typeface="Arial"/>
                <a:ea typeface="Arial"/>
                <a:cs typeface="Arial"/>
              </a:defRPr>
            </a:pPr>
            <a:r>
              <a:rPr sz="2100" b="1">
                <a:solidFill>
                  <a:srgbClr val="172B3A"/>
                </a:solidFill>
                <a:latin typeface="Arial"/>
                <a:ea typeface="Arial"/>
                <a:cs typeface="Arial"/>
              </a:rPr>
              <a:t>New observation</a:t>
            </a:r>
          </a:p>
        </p:txBody>
      </p:sp>
      <p:sp>
        <p:nvSpPr>
          <p:cNvPr id="9" name="">
            <a:extLst xmlns:a="http://schemas.openxmlformats.org/drawingml/2006/main">
              <a:ext uri="{FF2B5EF4-FFF2-40B4-BE49-F238E27FC236}">
                <a16:creationId xmlns:a16="http://schemas.microsoft.com/office/drawing/2014/main" id="{FBD256D8-C671-4D37-8B90-6F96EE7F3443}"/>
              </a:ext>
            </a:extLst>
          </p:cNvPr>
          <p:cNvSpPr>
            <a:spLocks xmlns:a="http://schemas.openxmlformats.org/drawingml/2006/main" noGrp="1"/>
          </p:cNvSpPr>
          <p:nvPr/>
        </p:nvSpPr>
        <p:spPr>
          <a:xfrm xmlns:a="http://schemas.openxmlformats.org/drawingml/2006/main">
            <a:off x="3762375" y="3686175"/>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Both fictional respondents report more concern about price than speed.</a:t>
            </a:r>
          </a:p>
        </p:txBody>
      </p:sp>
      <p:sp>
        <p:nvSpPr>
          <p:cNvPr id="10" name="">
            <a:extLst xmlns:a="http://schemas.openxmlformats.org/drawingml/2006/main">
              <a:ext uri="{FF2B5EF4-FFF2-40B4-BE49-F238E27FC236}">
                <a16:creationId xmlns:a16="http://schemas.microsoft.com/office/drawing/2014/main" id="{23B62510-584E-48AE-962B-B60A8F278EA2}"/>
              </a:ext>
            </a:extLst>
          </p:cNvPr>
          <p:cNvSpPr>
            <a:spLocks xmlns:a="http://schemas.openxmlformats.org/drawingml/2006/main" noGrp="1"/>
          </p:cNvSpPr>
          <p:nvPr/>
        </p:nvSpPr>
        <p:spPr>
          <a:xfrm xmlns:a="http://schemas.openxmlformats.org/drawingml/2006/main">
            <a:off x="685800" y="4714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B3A"/>
                </a:solidFill>
                <a:latin typeface="Arial"/>
                <a:ea typeface="Arial"/>
                <a:cs typeface="Arial"/>
              </a:defRPr>
            </a:pPr>
            <a:r>
              <a:rPr sz="2100" b="1">
                <a:solidFill>
                  <a:srgbClr val="172B3A"/>
                </a:solidFill>
                <a:latin typeface="Arial"/>
                <a:ea typeface="Arial"/>
                <a:cs typeface="Arial"/>
              </a:rPr>
              <a:t>Next action</a:t>
            </a:r>
          </a:p>
        </p:txBody>
      </p:sp>
      <p:sp>
        <p:nvSpPr>
          <p:cNvPr id="11" name="">
            <a:extLst xmlns:a="http://schemas.openxmlformats.org/drawingml/2006/main">
              <a:ext uri="{FF2B5EF4-FFF2-40B4-BE49-F238E27FC236}">
                <a16:creationId xmlns:a16="http://schemas.microsoft.com/office/drawing/2014/main" id="{92399A62-FEDA-4C37-BCB1-2D4AE409AF99}"/>
              </a:ext>
            </a:extLst>
          </p:cNvPr>
          <p:cNvSpPr>
            <a:spLocks xmlns:a="http://schemas.openxmlformats.org/drawingml/2006/main" noGrp="1"/>
          </p:cNvSpPr>
          <p:nvPr/>
        </p:nvSpPr>
        <p:spPr>
          <a:xfrm xmlns:a="http://schemas.openxmlformats.org/drawingml/2006/main">
            <a:off x="3762375" y="4714875"/>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Explore price and alternatives in the remaining three interviews.</a:t>
            </a:r>
          </a:p>
        </p:txBody>
      </p:sp>
      <p:sp>
        <p:nvSpPr>
          <p:cNvPr id="12" name="">
            <a:extLst xmlns:a="http://schemas.openxmlformats.org/drawingml/2006/main">
              <a:ext uri="{FF2B5EF4-FFF2-40B4-BE49-F238E27FC236}">
                <a16:creationId xmlns:a16="http://schemas.microsoft.com/office/drawing/2014/main" id="{83594DDC-48E7-45CA-A92B-61342F81EF40}"/>
              </a:ext>
            </a:extLst>
          </p:cNvPr>
          <p:cNvSpPr>
            <a:spLocks xmlns:a="http://schemas.openxmlformats.org/drawingml/2006/main" noGrp="1"/>
          </p:cNvSpPr>
          <p:nvPr/>
        </p:nvSpPr>
        <p:spPr>
          <a:xfrm xmlns:a="http://schemas.openxmlformats.org/drawingml/2006/main">
            <a:off x="685800" y="58197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4B626D"/>
                </a:solidFill>
                <a:latin typeface="Arial"/>
                <a:ea typeface="Arial"/>
                <a:cs typeface="Arial"/>
              </a:defRPr>
            </a:pPr>
            <a:r>
              <a:rPr sz="1725" b="0">
                <a:solidFill>
                  <a:srgbClr val="4B626D"/>
                </a:solidFill>
                <a:latin typeface="Arial"/>
                <a:ea typeface="Arial"/>
                <a:cs typeface="Arial"/>
              </a:rPr>
              <a:t>New session, saved context. Two convenience samples cannot establish market demand.</a:t>
            </a:r>
          </a:p>
        </p:txBody>
      </p:sp>
      <p:sp>
        <p:nvSpPr>
          <p:cNvPr id="13" name="">
            <a:extLst xmlns:a="http://schemas.openxmlformats.org/drawingml/2006/main">
              <a:ext uri="{FF2B5EF4-FFF2-40B4-BE49-F238E27FC236}">
                <a16:creationId xmlns:a16="http://schemas.microsoft.com/office/drawing/2014/main" id="{7C7B8794-8D8B-4D21-9FD4-46A2D5097C2C}"/>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5</a:t>
            </a:r>
          </a:p>
        </p:txBody>
      </p:sp>
    </p:spTree>
    <p:extLst>
      <p:ext uri="{BB962C8B-B14F-4D97-AF65-F5344CB8AC3E}">
        <p14:creationId xmlns:p14="http://schemas.microsoft.com/office/powerpoint/2010/main" val="16102091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B9B91D-DCB3-4FF0-B69B-C84DBF00C9E3}"/>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Founder confirmation and coaching flow</a:t>
            </a:r>
          </a:p>
        </p:txBody>
      </p:sp>
      <p:graphicFrame>
        <p:nvGraphicFramePr>
          <p:cNvPr id="6" name=""/>
          <p:cNvGraphicFramePr/>
          <p:nvPr/>
        </p:nvGraphicFramePr>
        <p:xfrm>
          <a:off xmlns:a="http://schemas.openxmlformats.org/drawingml/2006/main" x="685800" y="1619250"/>
          <a:ext xmlns:a="http://schemas.openxmlformats.org/drawingml/2006/main" cx="10820400" cy="3524250"/>
        </p:xfrm>
        <a:graphic xmlns:a="http://schemas.openxmlformats.org/drawingml/2006/main">
          <a:graphicData uri="http://schemas.openxmlformats.org/drawingml/2006/table">
            <a:tbl>
              <a:tblPr/>
              <a:tblGrid>
                <a:gridCol w="3381375"/>
                <a:gridCol w="7439025"/>
              </a:tblGrid>
              <a:tr h="587375">
                <a:tc>
                  <a:txBody>
                    <a:bodyPr lIns="152400" tIns="114300" rIns="152400" bIns="95250">
                      <a:noAutofit/>
                    </a:bodyPr>
                    <a:lstStyle/>
                    <a:p>
                      <a:r>
                        <a:rPr sz="1875" b="1">
                          <a:solidFill>
                            <a:srgbClr val="FFFFFF"/>
                          </a:solidFill>
                          <a:latin typeface="Arial"/>
                          <a:ea typeface="Arial"/>
                          <a:cs typeface="Arial"/>
                        </a:rPr>
                        <a:t>Stage</a:t>
                      </a:r>
                    </a:p>
                  </a:txBody>
                  <a:tcPr marL="91440" marR="91440" marT="45720" marB="45720" anchor="ctr">
                    <a:solidFill>
                      <a:srgbClr val="15635D"/>
                    </a:solidFill>
                  </a:tcPr>
                </a:tc>
                <a:tc>
                  <a:txBody>
                    <a:bodyPr lIns="152400" tIns="114300" rIns="152400" bIns="95250">
                      <a:noAutofit/>
                    </a:bodyPr>
                    <a:lstStyle/>
                    <a:p>
                      <a:r>
                        <a:rPr sz="1875" b="1">
                          <a:solidFill>
                            <a:srgbClr val="FFFFFF"/>
                          </a:solidFill>
                          <a:latin typeface="Arial"/>
                          <a:ea typeface="Arial"/>
                          <a:cs typeface="Arial"/>
                        </a:rPr>
                        <a:t>Founder or coach responsibility</a:t>
                      </a:r>
                    </a:p>
                  </a:txBody>
                  <a:tcPr marL="91440" marR="91440" marT="45720" marB="45720" anchor="ctr">
                    <a:solidFill>
                      <a:srgbClr val="15635D"/>
                    </a:solidFill>
                  </a:tcPr>
                </a:tc>
              </a:tr>
              <a:tr h="587375">
                <a:tc>
                  <a:txBody>
                    <a:bodyPr lIns="152400" tIns="114300" rIns="152400" bIns="95250">
                      <a:noAutofit/>
                    </a:bodyPr>
                    <a:lstStyle/>
                    <a:p>
                      <a:r>
                        <a:rPr sz="1875" b="0">
                          <a:solidFill>
                            <a:srgbClr val="172B3A"/>
                          </a:solidFill>
                          <a:latin typeface="Arial"/>
                          <a:ea typeface="Arial"/>
                          <a:cs typeface="Arial"/>
                        </a:rPr>
                        <a:t>Intake</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Founder states customer, problem and constraints</a:t>
                      </a:r>
                    </a:p>
                  </a:txBody>
                  <a:tcPr marL="91440" marR="91440" marT="45720" marB="45720" anchor="ctr">
                    <a:solidFill>
                      <a:srgbClr val="FFFFFF"/>
                    </a:solidFill>
                  </a:tcPr>
                </a:tc>
              </a:tr>
              <a:tr h="587375">
                <a:tc>
                  <a:txBody>
                    <a:bodyPr lIns="152400" tIns="114300" rIns="152400" bIns="95250">
                      <a:noAutofit/>
                    </a:bodyPr>
                    <a:lstStyle/>
                    <a:p>
                      <a:r>
                        <a:rPr sz="1875" b="0">
                          <a:solidFill>
                            <a:srgbClr val="172B3A"/>
                          </a:solidFill>
                          <a:latin typeface="Arial"/>
                          <a:ea typeface="Arial"/>
                          <a:cs typeface="Arial"/>
                        </a:rPr>
                        <a:t>Clarification</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Coach asks about assumptions and existing evidence</a:t>
                      </a:r>
                    </a:p>
                  </a:txBody>
                  <a:tcPr marL="91440" marR="91440" marT="45720" marB="45720" anchor="ctr">
                    <a:solidFill>
                      <a:srgbClr val="F8FAF9"/>
                    </a:solidFill>
                  </a:tcPr>
                </a:tc>
              </a:tr>
              <a:tr h="587375">
                <a:tc>
                  <a:txBody>
                    <a:bodyPr lIns="152400" tIns="114300" rIns="152400" bIns="95250">
                      <a:noAutofit/>
                    </a:bodyPr>
                    <a:lstStyle/>
                    <a:p>
                      <a:r>
                        <a:rPr sz="1875" b="0">
                          <a:solidFill>
                            <a:srgbClr val="172B3A"/>
                          </a:solidFill>
                          <a:latin typeface="Arial"/>
                          <a:ea typeface="Arial"/>
                          <a:cs typeface="Arial"/>
                        </a:rPr>
                        <a:t>Action</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Coach proposes a small test and explains its purpose</a:t>
                      </a:r>
                    </a:p>
                  </a:txBody>
                  <a:tcPr marL="91440" marR="91440" marT="45720" marB="45720" anchor="ctr">
                    <a:solidFill>
                      <a:srgbClr val="FFFFFF"/>
                    </a:solidFill>
                  </a:tcPr>
                </a:tc>
              </a:tr>
              <a:tr h="587375">
                <a:tc>
                  <a:txBody>
                    <a:bodyPr lIns="152400" tIns="114300" rIns="152400" bIns="95250">
                      <a:noAutofit/>
                    </a:bodyPr>
                    <a:lstStyle/>
                    <a:p>
                      <a:r>
                        <a:rPr sz="1875" b="0">
                          <a:solidFill>
                            <a:srgbClr val="172B3A"/>
                          </a:solidFill>
                          <a:latin typeface="Arial"/>
                          <a:ea typeface="Arial"/>
                          <a:cs typeface="Arial"/>
                        </a:rPr>
                        <a:t>Confirmation</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Founder reviews, corrects and saves project state</a:t>
                      </a:r>
                    </a:p>
                  </a:txBody>
                  <a:tcPr marL="91440" marR="91440" marT="45720" marB="45720" anchor="ctr">
                    <a:solidFill>
                      <a:srgbClr val="F8FAF9"/>
                    </a:solidFill>
                  </a:tcPr>
                </a:tc>
              </a:tr>
              <a:tr h="587375">
                <a:tc>
                  <a:txBody>
                    <a:bodyPr lIns="152400" tIns="114300" rIns="152400" bIns="95250">
                      <a:noAutofit/>
                    </a:bodyPr>
                    <a:lstStyle/>
                    <a:p>
                      <a:r>
                        <a:rPr sz="1875" b="0">
                          <a:solidFill>
                            <a:srgbClr val="172B3A"/>
                          </a:solidFill>
                          <a:latin typeface="Arial"/>
                          <a:ea typeface="Arial"/>
                          <a:cs typeface="Arial"/>
                        </a:rPr>
                        <a:t>Return visit</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Coach loads saved state and reviews reported results</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D7554E5-C8AA-4B1F-A600-36610F4AF025}"/>
              </a:ext>
            </a:extLst>
          </p:cNvPr>
          <p:cNvSpPr>
            <a:spLocks xmlns:a="http://schemas.openxmlformats.org/drawingml/2006/main" noGrp="1"/>
          </p:cNvSpPr>
          <p:nvPr/>
        </p:nvSpPr>
        <p:spPr>
          <a:xfrm xmlns:a="http://schemas.openxmlformats.org/drawingml/2006/main">
            <a:off x="685800" y="5476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B626D"/>
                </a:solidFill>
                <a:latin typeface="Arial"/>
                <a:ea typeface="Arial"/>
                <a:cs typeface="Arial"/>
              </a:defRPr>
            </a:pPr>
            <a:r>
              <a:rPr sz="1875" b="0">
                <a:solidFill>
                  <a:srgbClr val="4B626D"/>
                </a:solidFill>
                <a:latin typeface="Arial"/>
                <a:ea typeface="Arial"/>
                <a:cs typeface="Arial"/>
              </a:rPr>
              <a:t>Model suggestions never overwrite confirmed facts automatically</a:t>
            </a:r>
          </a:p>
        </p:txBody>
      </p:sp>
      <p:sp>
        <p:nvSpPr>
          <p:cNvPr id="4" name="">
            <a:extLst xmlns:a="http://schemas.openxmlformats.org/drawingml/2006/main">
              <a:ext uri="{FF2B5EF4-FFF2-40B4-BE49-F238E27FC236}">
                <a16:creationId xmlns:a16="http://schemas.microsoft.com/office/drawing/2014/main" id="{CE4EB2CE-B63E-408E-AE59-1A4AA048E565}"/>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6</a:t>
            </a:r>
          </a:p>
        </p:txBody>
      </p:sp>
    </p:spTree>
    <p:extLst>
      <p:ext uri="{BB962C8B-B14F-4D97-AF65-F5344CB8AC3E}">
        <p14:creationId xmlns:p14="http://schemas.microsoft.com/office/powerpoint/2010/main" val="15605607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F8F6CB-DA93-4393-94C3-B13C6719AB80}"/>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Demonstration evidence and current limits</a:t>
            </a:r>
          </a:p>
        </p:txBody>
      </p:sp>
      <p:sp>
        <p:nvSpPr>
          <p:cNvPr id="2" name="">
            <a:extLst xmlns:a="http://schemas.openxmlformats.org/drawingml/2006/main">
              <a:ext uri="{FF2B5EF4-FFF2-40B4-BE49-F238E27FC236}">
                <a16:creationId xmlns:a16="http://schemas.microsoft.com/office/drawing/2014/main" id="{F64E1D7D-927D-4EE9-AF07-C650E2EF5F5C}"/>
              </a:ext>
            </a:extLst>
          </p:cNvPr>
          <p:cNvSpPr>
            <a:spLocks xmlns:a="http://schemas.openxmlformats.org/drawingml/2006/main" noGrp="1"/>
          </p:cNvSpPr>
          <p:nvPr/>
        </p:nvSpPr>
        <p:spPr>
          <a:xfrm xmlns:a="http://schemas.openxmlformats.org/drawingml/2006/main">
            <a:off x="685800" y="1619250"/>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635D"/>
                </a:solidFill>
                <a:latin typeface="Arial"/>
                <a:ea typeface="Arial"/>
                <a:cs typeface="Arial"/>
              </a:defRPr>
            </a:pPr>
            <a:r>
              <a:rPr sz="2325" b="1">
                <a:solidFill>
                  <a:srgbClr val="15635D"/>
                </a:solidFill>
                <a:latin typeface="Arial"/>
                <a:ea typeface="Arial"/>
                <a:cs typeface="Arial"/>
              </a:rPr>
              <a:t>Verified locally</a:t>
            </a:r>
          </a:p>
        </p:txBody>
      </p:sp>
      <p:sp>
        <p:nvSpPr>
          <p:cNvPr id="3" name="">
            <a:extLst xmlns:a="http://schemas.openxmlformats.org/drawingml/2006/main">
              <a:ext uri="{FF2B5EF4-FFF2-40B4-BE49-F238E27FC236}">
                <a16:creationId xmlns:a16="http://schemas.microsoft.com/office/drawing/2014/main" id="{A806883A-6DC7-4F01-B927-6D1ACAB8A544}"/>
              </a:ext>
            </a:extLst>
          </p:cNvPr>
          <p:cNvSpPr>
            <a:spLocks xmlns:a="http://schemas.openxmlformats.org/drawingml/2006/main" noGrp="1"/>
          </p:cNvSpPr>
          <p:nvPr/>
        </p:nvSpPr>
        <p:spPr>
          <a:xfrm xmlns:a="http://schemas.openxmlformats.org/drawingml/2006/main">
            <a:off x="685800" y="2305050"/>
            <a:ext cx="5095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Real model replies in two sessions</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Saved context without pasted history</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Correction and restart recovery</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Project association checks</a:t>
            </a:r>
          </a:p>
        </p:txBody>
      </p:sp>
      <p:sp>
        <p:nvSpPr>
          <p:cNvPr id="4" name="">
            <a:extLst xmlns:a="http://schemas.openxmlformats.org/drawingml/2006/main">
              <a:ext uri="{FF2B5EF4-FFF2-40B4-BE49-F238E27FC236}">
                <a16:creationId xmlns:a16="http://schemas.microsoft.com/office/drawing/2014/main" id="{4312C43D-A5D8-4FA6-BE30-4B716F058728}"/>
              </a:ext>
            </a:extLst>
          </p:cNvPr>
          <p:cNvSpPr>
            <a:spLocks xmlns:a="http://schemas.openxmlformats.org/drawingml/2006/main" noGrp="1"/>
          </p:cNvSpPr>
          <p:nvPr/>
        </p:nvSpPr>
        <p:spPr>
          <a:xfrm xmlns:a="http://schemas.openxmlformats.org/drawingml/2006/main">
            <a:off x="6524625" y="1619250"/>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635D"/>
                </a:solidFill>
                <a:latin typeface="Arial"/>
                <a:ea typeface="Arial"/>
                <a:cs typeface="Arial"/>
              </a:defRPr>
            </a:pPr>
            <a:r>
              <a:rPr sz="2325" b="1">
                <a:solidFill>
                  <a:srgbClr val="15635D"/>
                </a:solidFill>
                <a:latin typeface="Arial"/>
                <a:ea typeface="Arial"/>
                <a:cs typeface="Arial"/>
              </a:rPr>
              <a:t>Still open</a:t>
            </a:r>
          </a:p>
        </p:txBody>
      </p:sp>
      <p:sp>
        <p:nvSpPr>
          <p:cNvPr id="5" name="">
            <a:extLst xmlns:a="http://schemas.openxmlformats.org/drawingml/2006/main">
              <a:ext uri="{FF2B5EF4-FFF2-40B4-BE49-F238E27FC236}">
                <a16:creationId xmlns:a16="http://schemas.microsoft.com/office/drawing/2014/main" id="{A322C1B4-9086-4C59-BBDD-FD3911E2FF90}"/>
              </a:ext>
            </a:extLst>
          </p:cNvPr>
          <p:cNvSpPr>
            <a:spLocks xmlns:a="http://schemas.openxmlformats.org/drawingml/2006/main" noGrp="1"/>
          </p:cNvSpPr>
          <p:nvPr/>
        </p:nvSpPr>
        <p:spPr>
          <a:xfrm xmlns:a="http://schemas.openxmlformats.org/drawingml/2006/main">
            <a:off x="6524625" y="2305050"/>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Faculty and EIR coaching review</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Several cases and a scoring rubric</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Login and user authorization</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Dependency security remediation</a:t>
            </a:r>
          </a:p>
        </p:txBody>
      </p:sp>
      <p:sp>
        <p:nvSpPr>
          <p:cNvPr id="6" name="">
            <a:extLst xmlns:a="http://schemas.openxmlformats.org/drawingml/2006/main">
              <a:ext uri="{FF2B5EF4-FFF2-40B4-BE49-F238E27FC236}">
                <a16:creationId xmlns:a16="http://schemas.microsoft.com/office/drawing/2014/main" id="{894CCC3B-2B28-4E46-91C0-F35D089C0B5D}"/>
              </a:ext>
            </a:extLst>
          </p:cNvPr>
          <p:cNvSpPr>
            <a:spLocks xmlns:a="http://schemas.openxmlformats.org/drawingml/2006/main" noGrp="1"/>
          </p:cNvSpPr>
          <p:nvPr/>
        </p:nvSpPr>
        <p:spPr>
          <a:xfrm xmlns:a="http://schemas.openxmlformats.org/drawingml/2006/main">
            <a:off x="685800" y="53149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B3A"/>
                </a:solidFill>
                <a:latin typeface="Arial"/>
                <a:ea typeface="Arial"/>
                <a:cs typeface="Arial"/>
              </a:defRPr>
            </a:pPr>
            <a:r>
              <a:rPr sz="2100" b="1">
                <a:solidFill>
                  <a:srgbClr val="172B3A"/>
                </a:solidFill>
                <a:latin typeface="Arial"/>
                <a:ea typeface="Arial"/>
                <a:cs typeface="Arial"/>
              </a:rPr>
              <a:t>Current boundary: one local user, fictional data, no public deployment</a:t>
            </a:r>
          </a:p>
        </p:txBody>
      </p:sp>
      <p:sp>
        <p:nvSpPr>
          <p:cNvPr id="7" name="">
            <a:extLst xmlns:a="http://schemas.openxmlformats.org/drawingml/2006/main">
              <a:ext uri="{FF2B5EF4-FFF2-40B4-BE49-F238E27FC236}">
                <a16:creationId xmlns:a16="http://schemas.microsoft.com/office/drawing/2014/main" id="{D4DAA008-697E-4446-936A-0425694BEE9B}"/>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7</a:t>
            </a:r>
          </a:p>
        </p:txBody>
      </p:sp>
    </p:spTree>
    <p:extLst>
      <p:ext uri="{BB962C8B-B14F-4D97-AF65-F5344CB8AC3E}">
        <p14:creationId xmlns:p14="http://schemas.microsoft.com/office/powerpoint/2010/main" val="2133535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30B45B-A5DD-4529-A2B3-1A3EE9593E45}"/>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Next steps and feedback requested</a:t>
            </a:r>
          </a:p>
        </p:txBody>
      </p:sp>
      <p:sp>
        <p:nvSpPr>
          <p:cNvPr id="2" name="">
            <a:extLst xmlns:a="http://schemas.openxmlformats.org/drawingml/2006/main">
              <a:ext uri="{FF2B5EF4-FFF2-40B4-BE49-F238E27FC236}">
                <a16:creationId xmlns:a16="http://schemas.microsoft.com/office/drawing/2014/main" id="{4F7CD18C-90F3-44E5-8323-964E4C43806D}"/>
              </a:ext>
            </a:extLst>
          </p:cNvPr>
          <p:cNvSpPr>
            <a:spLocks xmlns:a="http://schemas.openxmlformats.org/drawingml/2006/main" noGrp="1"/>
          </p:cNvSpPr>
          <p:nvPr/>
        </p:nvSpPr>
        <p:spPr>
          <a:xfrm xmlns:a="http://schemas.openxmlformats.org/drawingml/2006/main">
            <a:off x="6858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635D"/>
                </a:solidFill>
                <a:latin typeface="Arial"/>
                <a:ea typeface="Arial"/>
                <a:cs typeface="Arial"/>
              </a:defRPr>
            </a:pPr>
            <a:r>
              <a:rPr sz="2325" b="1">
                <a:solidFill>
                  <a:srgbClr val="15635D"/>
                </a:solidFill>
                <a:latin typeface="Arial"/>
                <a:ea typeface="Arial"/>
                <a:cs typeface="Arial"/>
              </a:rPr>
              <a:t>Immediate discussion</a:t>
            </a:r>
          </a:p>
        </p:txBody>
      </p:sp>
      <p:sp>
        <p:nvSpPr>
          <p:cNvPr id="3" name="">
            <a:extLst xmlns:a="http://schemas.openxmlformats.org/drawingml/2006/main">
              <a:ext uri="{FF2B5EF4-FFF2-40B4-BE49-F238E27FC236}">
                <a16:creationId xmlns:a16="http://schemas.microsoft.com/office/drawing/2014/main" id="{0A7E53A9-EBAC-4D8F-A8FE-864F4A10DA17}"/>
              </a:ext>
            </a:extLst>
          </p:cNvPr>
          <p:cNvSpPr>
            <a:spLocks xmlns:a="http://schemas.openxmlformats.org/drawingml/2006/main" noGrp="1"/>
          </p:cNvSpPr>
          <p:nvPr/>
        </p:nvSpPr>
        <p:spPr>
          <a:xfrm xmlns:a="http://schemas.openxmlformats.org/drawingml/2006/main">
            <a:off x="685800" y="2305050"/>
            <a:ext cx="5286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What essential intake information is missing?</a:t>
            </a:r>
          </a:p>
          <a:p xmlns:a="http://schemas.openxmlformats.org/drawingml/2006/main">
            <a:r>
              <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Which follow-up questions need revision?</a:t>
            </a:r>
          </a:p>
        </p:txBody>
      </p:sp>
      <p:sp>
        <p:nvSpPr>
          <p:cNvPr id="4" name="">
            <a:extLst xmlns:a="http://schemas.openxmlformats.org/drawingml/2006/main">
              <a:ext uri="{FF2B5EF4-FFF2-40B4-BE49-F238E27FC236}">
                <a16:creationId xmlns:a16="http://schemas.microsoft.com/office/drawing/2014/main" id="{36131B6D-267F-4C08-B09D-AAB7479B016E}"/>
              </a:ext>
            </a:extLst>
          </p:cNvPr>
          <p:cNvSpPr>
            <a:spLocks xmlns:a="http://schemas.openxmlformats.org/drawingml/2006/main" noGrp="1"/>
          </p:cNvSpPr>
          <p:nvPr/>
        </p:nvSpPr>
        <p:spPr>
          <a:xfrm xmlns:a="http://schemas.openxmlformats.org/drawingml/2006/main">
            <a:off x="6534150" y="16383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635D"/>
                </a:solidFill>
                <a:latin typeface="Arial"/>
                <a:ea typeface="Arial"/>
                <a:cs typeface="Arial"/>
              </a:defRPr>
            </a:pPr>
            <a:r>
              <a:rPr sz="2325" b="1">
                <a:solidFill>
                  <a:srgbClr val="15635D"/>
                </a:solidFill>
                <a:latin typeface="Arial"/>
                <a:ea typeface="Arial"/>
                <a:cs typeface="Arial"/>
              </a:rPr>
              <a:t>Following this review</a:t>
            </a:r>
          </a:p>
        </p:txBody>
      </p:sp>
      <p:sp>
        <p:nvSpPr>
          <p:cNvPr id="5" name="">
            <a:extLst xmlns:a="http://schemas.openxmlformats.org/drawingml/2006/main">
              <a:ext uri="{FF2B5EF4-FFF2-40B4-BE49-F238E27FC236}">
                <a16:creationId xmlns:a16="http://schemas.microsoft.com/office/drawing/2014/main" id="{36DD1ABE-88A2-46AF-A79C-E43C44EC5B04}"/>
              </a:ext>
            </a:extLst>
          </p:cNvPr>
          <p:cNvSpPr>
            <a:spLocks xmlns:a="http://schemas.openxmlformats.org/drawingml/2006/main" noGrp="1"/>
          </p:cNvSpPr>
          <p:nvPr/>
        </p:nvSpPr>
        <p:spPr>
          <a:xfrm xmlns:a="http://schemas.openxmlformats.org/drawingml/2006/main">
            <a:off x="6534150" y="2305050"/>
            <a:ext cx="4953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Bring concrete gaps to Ain.</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Request approved mentoring materials.</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Evaluate several fictional ventures.</a:t>
            </a:r>
          </a:p>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Confirm team roles next week.</a:t>
            </a:r>
          </a:p>
        </p:txBody>
      </p:sp>
      <p:sp>
        <p:nvSpPr>
          <p:cNvPr id="6" name="">
            <a:extLst xmlns:a="http://schemas.openxmlformats.org/drawingml/2006/main">
              <a:ext uri="{FF2B5EF4-FFF2-40B4-BE49-F238E27FC236}">
                <a16:creationId xmlns:a16="http://schemas.microsoft.com/office/drawing/2014/main" id="{D606D399-7099-4148-9E79-6CCEACD0CCE8}"/>
              </a:ext>
            </a:extLst>
          </p:cNvPr>
          <p:cNvSpPr>
            <a:spLocks xmlns:a="http://schemas.openxmlformats.org/drawingml/2006/main" noGrp="1"/>
          </p:cNvSpPr>
          <p:nvPr/>
        </p:nvSpPr>
        <p:spPr>
          <a:xfrm xmlns:a="http://schemas.openxmlformats.org/drawingml/2006/main">
            <a:off x="685800" y="5476875"/>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B626D"/>
                </a:solidFill>
                <a:latin typeface="Arial"/>
                <a:ea typeface="Arial"/>
                <a:cs typeface="Arial"/>
              </a:defRPr>
            </a:pPr>
            <a:r>
              <a:rPr sz="1875" b="0">
                <a:solidFill>
                  <a:srgbClr val="4B626D"/>
                </a:solidFill>
                <a:latin typeface="Arial"/>
                <a:ea typeface="Arial"/>
                <a:cs typeface="Arial"/>
              </a:rPr>
              <a:t>Ain’s process and evaluation criteria remain unconfirmed. Local testing needs no API key.</a:t>
            </a:r>
          </a:p>
        </p:txBody>
      </p:sp>
      <p:sp>
        <p:nvSpPr>
          <p:cNvPr id="7" name="">
            <a:extLst xmlns:a="http://schemas.openxmlformats.org/drawingml/2006/main">
              <a:ext uri="{FF2B5EF4-FFF2-40B4-BE49-F238E27FC236}">
                <a16:creationId xmlns:a16="http://schemas.microsoft.com/office/drawing/2014/main" id="{68A250FE-239B-4413-9317-03ADFBECD70A}"/>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8</a:t>
            </a:r>
          </a:p>
        </p:txBody>
      </p:sp>
    </p:spTree>
    <p:extLst>
      <p:ext uri="{BB962C8B-B14F-4D97-AF65-F5344CB8AC3E}">
        <p14:creationId xmlns:p14="http://schemas.microsoft.com/office/powerpoint/2010/main" val="21416154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F0BD29-DB93-49C9-9DB2-C5887D838AC7}"/>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Appendix: implementation and validation</a:t>
            </a:r>
          </a:p>
        </p:txBody>
      </p:sp>
      <p:graphicFrame>
        <p:nvGraphicFramePr>
          <p:cNvPr id="6" name=""/>
          <p:cNvGraphicFramePr/>
          <p:nvPr/>
        </p:nvGraphicFramePr>
        <p:xfrm>
          <a:off xmlns:a="http://schemas.openxmlformats.org/drawingml/2006/main" x="685800" y="1619250"/>
          <a:ext xmlns:a="http://schemas.openxmlformats.org/drawingml/2006/main" cx="10820400" cy="3714750"/>
        </p:xfrm>
        <a:graphic xmlns:a="http://schemas.openxmlformats.org/drawingml/2006/main">
          <a:graphicData uri="http://schemas.openxmlformats.org/drawingml/2006/table">
            <a:tbl>
              <a:tblPr/>
              <a:tblGrid>
                <a:gridCol w="3476625"/>
                <a:gridCol w="7343775"/>
              </a:tblGrid>
              <a:tr h="619125">
                <a:tc>
                  <a:txBody>
                    <a:bodyPr lIns="152400" tIns="114300" rIns="152400" bIns="95250">
                      <a:noAutofit/>
                    </a:bodyPr>
                    <a:lstStyle/>
                    <a:p>
                      <a:r>
                        <a:rPr sz="1875" b="1">
                          <a:solidFill>
                            <a:srgbClr val="FFFFFF"/>
                          </a:solidFill>
                          <a:latin typeface="Arial"/>
                          <a:ea typeface="Arial"/>
                          <a:cs typeface="Arial"/>
                        </a:rPr>
                        <a:t>Surface</a:t>
                      </a:r>
                    </a:p>
                  </a:txBody>
                  <a:tcPr marL="91440" marR="91440" marT="45720" marB="45720" anchor="ctr">
                    <a:solidFill>
                      <a:srgbClr val="15635D"/>
                    </a:solidFill>
                  </a:tcPr>
                </a:tc>
                <a:tc>
                  <a:txBody>
                    <a:bodyPr lIns="152400" tIns="114300" rIns="152400" bIns="95250">
                      <a:noAutofit/>
                    </a:bodyPr>
                    <a:lstStyle/>
                    <a:p>
                      <a:r>
                        <a:rPr sz="1875" b="1">
                          <a:solidFill>
                            <a:srgbClr val="FFFFFF"/>
                          </a:solidFill>
                          <a:latin typeface="Arial"/>
                          <a:ea typeface="Arial"/>
                          <a:cs typeface="Arial"/>
                        </a:rPr>
                        <a:t>Recorded evidence</a:t>
                      </a:r>
                    </a:p>
                  </a:txBody>
                  <a:tcPr marL="91440" marR="91440" marT="45720" marB="45720" anchor="ctr">
                    <a:solidFill>
                      <a:srgbClr val="15635D"/>
                    </a:solidFill>
                  </a:tcPr>
                </a:tc>
              </a:tr>
              <a:tr h="619125">
                <a:tc>
                  <a:txBody>
                    <a:bodyPr lIns="152400" tIns="114300" rIns="152400" bIns="95250">
                      <a:noAutofit/>
                    </a:bodyPr>
                    <a:lstStyle/>
                    <a:p>
                      <a:r>
                        <a:rPr sz="1875" b="0">
                          <a:solidFill>
                            <a:srgbClr val="172B3A"/>
                          </a:solidFill>
                          <a:latin typeface="Arial"/>
                          <a:ea typeface="Arial"/>
                          <a:cs typeface="Arial"/>
                        </a:rPr>
                        <a:t>Model and hardware</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Ollama, gemma4:26b, RTX 5090, about 22 GB VRAM</a:t>
                      </a:r>
                    </a:p>
                  </a:txBody>
                  <a:tcPr marL="91440" marR="91440" marT="45720" marB="45720" anchor="ctr">
                    <a:solidFill>
                      <a:srgbClr val="FFFFFF"/>
                    </a:solidFill>
                  </a:tcPr>
                </a:tc>
              </a:tr>
              <a:tr h="619125">
                <a:tc>
                  <a:txBody>
                    <a:bodyPr lIns="152400" tIns="114300" rIns="152400" bIns="95250">
                      <a:noAutofit/>
                    </a:bodyPr>
                    <a:lstStyle/>
                    <a:p>
                      <a:r>
                        <a:rPr sz="1875" b="0">
                          <a:solidFill>
                            <a:srgbClr val="172B3A"/>
                          </a:solidFill>
                          <a:latin typeface="Arial"/>
                          <a:ea typeface="Arial"/>
                          <a:cs typeface="Arial"/>
                        </a:rPr>
                        <a:t>EIR prototype tests</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18 deterministic tests and 14 headless UI checks</a:t>
                      </a:r>
                    </a:p>
                  </a:txBody>
                  <a:tcPr marL="91440" marR="91440" marT="45720" marB="45720" anchor="ctr">
                    <a:solidFill>
                      <a:srgbClr val="F8FAF9"/>
                    </a:solidFill>
                  </a:tcPr>
                </a:tc>
              </a:tr>
              <a:tr h="619125">
                <a:tc>
                  <a:txBody>
                    <a:bodyPr lIns="152400" tIns="114300" rIns="152400" bIns="95250">
                      <a:noAutofit/>
                    </a:bodyPr>
                    <a:lstStyle/>
                    <a:p>
                      <a:r>
                        <a:rPr sz="1875" b="0">
                          <a:solidFill>
                            <a:srgbClr val="172B3A"/>
                          </a:solidFill>
                          <a:latin typeface="Arial"/>
                          <a:ea typeface="Arial"/>
                          <a:cs typeface="Arial"/>
                        </a:rPr>
                        <a:t>GOAT regressions</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540 backend/contract tests, 8 skipped, 217 frontend tests</a:t>
                      </a:r>
                    </a:p>
                  </a:txBody>
                  <a:tcPr marL="91440" marR="91440" marT="45720" marB="45720" anchor="ctr">
                    <a:solidFill>
                      <a:srgbClr val="FFFFFF"/>
                    </a:solidFill>
                  </a:tcPr>
                </a:tc>
              </a:tr>
              <a:tr h="619125">
                <a:tc>
                  <a:txBody>
                    <a:bodyPr lIns="152400" tIns="114300" rIns="152400" bIns="95250">
                      <a:noAutofit/>
                    </a:bodyPr>
                    <a:lstStyle/>
                    <a:p>
                      <a:r>
                        <a:rPr sz="1875" b="0">
                          <a:solidFill>
                            <a:srgbClr val="172B3A"/>
                          </a:solidFill>
                          <a:latin typeface="Arial"/>
                          <a:ea typeface="Arial"/>
                          <a:cs typeface="Arial"/>
                        </a:rPr>
                        <a:t>Upstream fixes</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Thinking controls and path assertions, PRs #28/#29 open</a:t>
                      </a:r>
                    </a:p>
                  </a:txBody>
                  <a:tcPr marL="91440" marR="91440" marT="45720" marB="45720" anchor="ctr">
                    <a:solidFill>
                      <a:srgbClr val="F8FAF9"/>
                    </a:solidFill>
                  </a:tcPr>
                </a:tc>
              </a:tr>
              <a:tr h="619125">
                <a:tc>
                  <a:txBody>
                    <a:bodyPr lIns="152400" tIns="114300" rIns="152400" bIns="95250">
                      <a:noAutofit/>
                    </a:bodyPr>
                    <a:lstStyle/>
                    <a:p>
                      <a:r>
                        <a:rPr sz="1875" b="0">
                          <a:solidFill>
                            <a:srgbClr val="172B3A"/>
                          </a:solidFill>
                          <a:latin typeface="Arial"/>
                          <a:ea typeface="Arial"/>
                          <a:cs typeface="Arial"/>
                        </a:rPr>
                        <a:t>Operation</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Loopback only. Code syncs through private GitHub</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1D98647-6706-4393-8B1A-88EF372FDFAB}"/>
              </a:ext>
            </a:extLst>
          </p:cNvPr>
          <p:cNvSpPr>
            <a:spLocks xmlns:a="http://schemas.openxmlformats.org/drawingml/2006/main" noGrp="1"/>
          </p:cNvSpPr>
          <p:nvPr/>
        </p:nvSpPr>
        <p:spPr>
          <a:xfrm xmlns:a="http://schemas.openxmlformats.org/drawingml/2006/main">
            <a:off x="685800" y="56578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B626D"/>
                </a:solidFill>
                <a:latin typeface="Arial"/>
                <a:ea typeface="Arial"/>
                <a:cs typeface="Arial"/>
              </a:defRPr>
            </a:pPr>
            <a:r>
              <a:rPr sz="1800" b="0">
                <a:solidFill>
                  <a:srgbClr val="4B626D"/>
                </a:solidFill>
                <a:latin typeface="Arial"/>
                <a:ea typeface="Arial"/>
                <a:cs typeface="Arial"/>
              </a:rPr>
              <a:t>CI lint and dependency blockers remain. UI feedback uses mocks, with separate real-model proof.</a:t>
            </a:r>
          </a:p>
        </p:txBody>
      </p:sp>
      <p:sp>
        <p:nvSpPr>
          <p:cNvPr id="4" name="">
            <a:extLst xmlns:a="http://schemas.openxmlformats.org/drawingml/2006/main">
              <a:ext uri="{FF2B5EF4-FFF2-40B4-BE49-F238E27FC236}">
                <a16:creationId xmlns:a16="http://schemas.microsoft.com/office/drawing/2014/main" id="{23E660AA-56A8-4BDC-9CA0-368686AB136D}"/>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9</a:t>
            </a:r>
          </a:p>
        </p:txBody>
      </p:sp>
    </p:spTree>
    <p:extLst>
      <p:ext uri="{BB962C8B-B14F-4D97-AF65-F5344CB8AC3E}">
        <p14:creationId xmlns:p14="http://schemas.microsoft.com/office/powerpoint/2010/main" val="20461138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BDF18D-D8A4-48F9-9C71-DB6B97CDF1A4}"/>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Appendix: recorded demo fallback</a:t>
            </a:r>
          </a:p>
        </p:txBody>
      </p:sp>
      <p:graphicFrame>
        <p:nvGraphicFramePr>
          <p:cNvPr id="7" name=""/>
          <p:cNvGraphicFramePr/>
          <p:nvPr/>
        </p:nvGraphicFramePr>
        <p:xfrm>
          <a:off xmlns:a="http://schemas.openxmlformats.org/drawingml/2006/main" x="685800" y="1619250"/>
          <a:ext xmlns:a="http://schemas.openxmlformats.org/drawingml/2006/main" cx="10820400" cy="3276600"/>
        </p:xfrm>
        <a:graphic xmlns:a="http://schemas.openxmlformats.org/drawingml/2006/main">
          <a:graphicData uri="http://schemas.openxmlformats.org/drawingml/2006/table">
            <a:tbl>
              <a:tblPr/>
              <a:tblGrid>
                <a:gridCol w="3667125"/>
                <a:gridCol w="7153275"/>
              </a:tblGrid>
              <a:tr h="655320">
                <a:tc>
                  <a:txBody>
                    <a:bodyPr lIns="152400" tIns="114300" rIns="152400" bIns="95250">
                      <a:noAutofit/>
                    </a:bodyPr>
                    <a:lstStyle/>
                    <a:p>
                      <a:r>
                        <a:rPr sz="1875" b="1">
                          <a:solidFill>
                            <a:srgbClr val="FFFFFF"/>
                          </a:solidFill>
                          <a:latin typeface="Arial"/>
                          <a:ea typeface="Arial"/>
                          <a:cs typeface="Arial"/>
                        </a:rPr>
                        <a:t>Recorded step</a:t>
                      </a:r>
                    </a:p>
                  </a:txBody>
                  <a:tcPr marL="91440" marR="91440" marT="45720" marB="45720" anchor="ctr">
                    <a:solidFill>
                      <a:srgbClr val="15635D"/>
                    </a:solidFill>
                  </a:tcPr>
                </a:tc>
                <a:tc>
                  <a:txBody>
                    <a:bodyPr lIns="152400" tIns="114300" rIns="152400" bIns="95250">
                      <a:noAutofit/>
                    </a:bodyPr>
                    <a:lstStyle/>
                    <a:p>
                      <a:r>
                        <a:rPr sz="1875" b="1">
                          <a:solidFill>
                            <a:srgbClr val="FFFFFF"/>
                          </a:solidFill>
                          <a:latin typeface="Arial"/>
                          <a:ea typeface="Arial"/>
                          <a:cs typeface="Arial"/>
                        </a:rPr>
                        <a:t>What the evidence demonstrates</a:t>
                      </a:r>
                    </a:p>
                  </a:txBody>
                  <a:tcPr marL="91440" marR="91440" marT="45720" marB="45720" anchor="ctr">
                    <a:solidFill>
                      <a:srgbClr val="15635D"/>
                    </a:solidFill>
                  </a:tcPr>
                </a:tc>
              </a:tr>
              <a:tr h="655320">
                <a:tc>
                  <a:txBody>
                    <a:bodyPr lIns="152400" tIns="114300" rIns="152400" bIns="95250">
                      <a:noAutofit/>
                    </a:bodyPr>
                    <a:lstStyle/>
                    <a:p>
                      <a:r>
                        <a:rPr sz="1875" b="0">
                          <a:solidFill>
                            <a:srgbClr val="172B3A"/>
                          </a:solidFill>
                          <a:latin typeface="Arial"/>
                          <a:ea typeface="Arial"/>
                          <a:cs typeface="Arial"/>
                        </a:rPr>
                        <a:t>First consultation</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Five-person plan with questions about recent experiences</a:t>
                      </a:r>
                    </a:p>
                  </a:txBody>
                  <a:tcPr marL="91440" marR="91440" marT="45720" marB="45720" anchor="ctr">
                    <a:solidFill>
                      <a:srgbClr val="FFFFFF"/>
                    </a:solidFill>
                  </a:tcPr>
                </a:tc>
              </a:tr>
              <a:tr h="655320">
                <a:tc>
                  <a:txBody>
                    <a:bodyPr lIns="152400" tIns="114300" rIns="152400" bIns="95250">
                      <a:noAutofit/>
                    </a:bodyPr>
                    <a:lstStyle/>
                    <a:p>
                      <a:r>
                        <a:rPr sz="1875" b="0">
                          <a:solidFill>
                            <a:srgbClr val="172B3A"/>
                          </a:solidFill>
                          <a:latin typeface="Arial"/>
                          <a:ea typeface="Arial"/>
                          <a:cs typeface="Arial"/>
                        </a:rPr>
                        <a:t>Founder confirmation</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Plan 5, completion 2, sample size 2, profile revision 3</a:t>
                      </a:r>
                    </a:p>
                  </a:txBody>
                  <a:tcPr marL="91440" marR="91440" marT="45720" marB="45720" anchor="ctr">
                    <a:solidFill>
                      <a:srgbClr val="F8FAF9"/>
                    </a:solidFill>
                  </a:tcPr>
                </a:tc>
              </a:tr>
              <a:tr h="655320">
                <a:tc>
                  <a:txBody>
                    <a:bodyPr lIns="152400" tIns="114300" rIns="152400" bIns="95250">
                      <a:noAutofit/>
                    </a:bodyPr>
                    <a:lstStyle/>
                    <a:p>
                      <a:r>
                        <a:rPr sz="1875" b="0">
                          <a:solidFill>
                            <a:srgbClr val="172B3A"/>
                          </a:solidFill>
                          <a:latin typeface="Arial"/>
                          <a:ea typeface="Arial"/>
                          <a:cs typeface="Arial"/>
                        </a:rPr>
                        <a:t>New follow-up session</a:t>
                      </a:r>
                    </a:p>
                  </a:txBody>
                  <a:tcPr marL="91440" marR="91440" marT="45720" marB="45720" anchor="ctr">
                    <a:solidFill>
                      <a:srgbClr val="FFFFFF"/>
                    </a:solidFill>
                  </a:tcPr>
                </a:tc>
                <a:tc>
                  <a:txBody>
                    <a:bodyPr lIns="152400" tIns="114300" rIns="152400" bIns="95250">
                      <a:noAutofit/>
                    </a:bodyPr>
                    <a:lstStyle/>
                    <a:p>
                      <a:r>
                        <a:rPr sz="1875" b="0">
                          <a:solidFill>
                            <a:srgbClr val="172B3A"/>
                          </a:solidFill>
                          <a:latin typeface="Arial"/>
                          <a:ea typeface="Arial"/>
                          <a:cs typeface="Arial"/>
                        </a:rPr>
                        <a:t>Advice uses saved price observations and 3 remaining interviews</a:t>
                      </a:r>
                    </a:p>
                  </a:txBody>
                  <a:tcPr marL="91440" marR="91440" marT="45720" marB="45720" anchor="ctr">
                    <a:solidFill>
                      <a:srgbClr val="FFFFFF"/>
                    </a:solidFill>
                  </a:tcPr>
                </a:tc>
              </a:tr>
              <a:tr h="655320">
                <a:tc>
                  <a:txBody>
                    <a:bodyPr lIns="152400" tIns="114300" rIns="152400" bIns="95250">
                      <a:noAutofit/>
                    </a:bodyPr>
                    <a:lstStyle/>
                    <a:p>
                      <a:r>
                        <a:rPr sz="1875" b="0">
                          <a:solidFill>
                            <a:srgbClr val="172B3A"/>
                          </a:solidFill>
                          <a:latin typeface="Arial"/>
                          <a:ea typeface="Arial"/>
                          <a:cs typeface="Arial"/>
                        </a:rPr>
                        <a:t>Real process restart</a:t>
                      </a:r>
                    </a:p>
                  </a:txBody>
                  <a:tcPr marL="91440" marR="91440" marT="45720" marB="45720" anchor="ctr">
                    <a:solidFill>
                      <a:srgbClr val="F8FAF9"/>
                    </a:solidFill>
                  </a:tcPr>
                </a:tc>
                <a:tc>
                  <a:txBody>
                    <a:bodyPr lIns="152400" tIns="114300" rIns="152400" bIns="95250">
                      <a:noAutofit/>
                    </a:bodyPr>
                    <a:lstStyle/>
                    <a:p>
                      <a:r>
                        <a:rPr sz="1875" b="0">
                          <a:solidFill>
                            <a:srgbClr val="172B3A"/>
                          </a:solidFill>
                          <a:latin typeface="Arial"/>
                          <a:ea typeface="Arial"/>
                          <a:cs typeface="Arial"/>
                        </a:rPr>
                        <a:t>Profile and conversation records recover</a:t>
                      </a:r>
                    </a:p>
                  </a:txBody>
                  <a:tcPr marL="91440" marR="91440" marT="45720" marB="45720" anchor="ctr">
                    <a:solidFill>
                      <a:srgbClr val="F8FAF9"/>
                    </a:solidFill>
                  </a:tcPr>
                </a:tc>
              </a:tr>
            </a:tbl>
          </a:graphicData>
        </a:graphic>
      </p:graphicFrame>
      <p:sp>
        <p:nvSpPr>
          <p:cNvPr id="3" name="">
            <a:extLst xmlns:a="http://schemas.openxmlformats.org/drawingml/2006/main">
              <a:ext uri="{FF2B5EF4-FFF2-40B4-BE49-F238E27FC236}">
                <a16:creationId xmlns:a16="http://schemas.microsoft.com/office/drawing/2014/main" id="{02FE9D64-841E-4B80-98C0-53B83C731FCB}"/>
              </a:ext>
            </a:extLst>
          </p:cNvPr>
          <p:cNvSpPr>
            <a:spLocks xmlns:a="http://schemas.openxmlformats.org/drawingml/2006/main" noGrp="1"/>
          </p:cNvSpPr>
          <p:nvPr/>
        </p:nvSpPr>
        <p:spPr>
          <a:xfrm xmlns:a="http://schemas.openxmlformats.org/drawingml/2006/main">
            <a:off x="685800" y="51911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B626D"/>
                </a:solidFill>
                <a:latin typeface="Arial"/>
                <a:ea typeface="Arial"/>
                <a:cs typeface="Arial"/>
              </a:defRPr>
            </a:pPr>
            <a:r>
              <a:rPr sz="1875" b="0">
                <a:solidFill>
                  <a:srgbClr val="4B626D"/>
                </a:solidFill>
                <a:latin typeface="Arial"/>
                <a:ea typeface="Arial"/>
                <a:cs typeface="Arial"/>
              </a:rPr>
              <a:t>Latest recorded replies: 20.785 s and 14.375 s. One case, not a latency benchmark.</a:t>
            </a:r>
          </a:p>
        </p:txBody>
      </p:sp>
      <p:sp>
        <p:nvSpPr>
          <p:cNvPr id="4" name="">
            <a:extLst xmlns:a="http://schemas.openxmlformats.org/drawingml/2006/main">
              <a:ext uri="{FF2B5EF4-FFF2-40B4-BE49-F238E27FC236}">
                <a16:creationId xmlns:a16="http://schemas.microsoft.com/office/drawing/2014/main" id="{FD83AC39-FD4C-4BAC-893E-352BE3D53934}"/>
              </a:ext>
            </a:extLst>
          </p:cNvPr>
          <p:cNvSpPr>
            <a:spLocks xmlns:a="http://schemas.openxmlformats.org/drawingml/2006/main" noGrp="1"/>
          </p:cNvSpPr>
          <p:nvPr/>
        </p:nvSpPr>
        <p:spPr>
          <a:xfrm xmlns:a="http://schemas.openxmlformats.org/drawingml/2006/main">
            <a:off x="685800" y="59245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4B626D"/>
                </a:solidFill>
                <a:latin typeface="Arial"/>
                <a:ea typeface="Arial"/>
                <a:cs typeface="Arial"/>
              </a:defRPr>
            </a:pPr>
            <a:r>
              <a:rPr sz="1725" b="0">
                <a:solidFill>
                  <a:srgbClr val="4B626D"/>
                </a:solidFill>
                <a:latin typeface="Arial"/>
                <a:ea typeface="Arial"/>
                <a:cs typeface="Arial"/>
              </a:rPr>
              <a:t>If live chat fails, identify this as a recorded test. Full Chinese output stays in the evidence file.</a:t>
            </a:r>
          </a:p>
        </p:txBody>
      </p:sp>
      <p:sp>
        <p:nvSpPr>
          <p:cNvPr id="5" name="">
            <a:extLst xmlns:a="http://schemas.openxmlformats.org/drawingml/2006/main">
              <a:ext uri="{FF2B5EF4-FFF2-40B4-BE49-F238E27FC236}">
                <a16:creationId xmlns:a16="http://schemas.microsoft.com/office/drawing/2014/main" id="{B15408C4-2632-4240-A9A7-8CDF00F3FC4B}"/>
              </a:ext>
            </a:extLst>
          </p:cNvPr>
          <p:cNvSpPr>
            <a:spLocks xmlns:a="http://schemas.openxmlformats.org/drawingml/2006/main" noGrp="1"/>
          </p:cNvSpPr>
          <p:nvPr/>
        </p:nvSpPr>
        <p:spPr>
          <a:xfrm xmlns:a="http://schemas.openxmlformats.org/drawingml/2006/main">
            <a:off x="11115675" y="6534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B626D"/>
                </a:solidFill>
                <a:latin typeface="Arial"/>
                <a:ea typeface="Arial"/>
                <a:cs typeface="Arial"/>
              </a:defRPr>
            </a:pPr>
            <a:r>
              <a:rPr sz="1275" b="0">
                <a:solidFill>
                  <a:srgbClr val="4B626D"/>
                </a:solidFill>
                <a:latin typeface="Arial"/>
                <a:ea typeface="Arial"/>
                <a:cs typeface="Arial"/>
              </a:rPr>
              <a:t>10</a:t>
            </a:r>
          </a:p>
        </p:txBody>
      </p:sp>
    </p:spTree>
    <p:extLst>
      <p:ext uri="{BB962C8B-B14F-4D97-AF65-F5344CB8AC3E}">
        <p14:creationId xmlns:p14="http://schemas.microsoft.com/office/powerpoint/2010/main" val="1879890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2026-10-08T20:23:59.0650000Z</dcterms:created>
  <dcterms:modified xsi:type="dcterms:W3CDTF">2026-10-08T20:23:59.0650000Z</dcterms:modified>
</coreProperties>
</file>