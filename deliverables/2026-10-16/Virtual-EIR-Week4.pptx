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c3209b0c15429b" /><Relationship Type="http://schemas.openxmlformats.org/officeDocument/2006/relationships/extended-properties" Target="/docProps/app.xml" Id="R4175c39686b44c9d" /><Relationship Type="http://schemas.openxmlformats.org/officeDocument/2006/relationships/officeDocument" Target="/ppt/presentation.xml" Id="R16aa40e82cb2492e" /></Relationships>
</file>

<file path=ppt/presentation.xml><?xml version="1.0" encoding="utf-8"?>
<p:presentation xmlns:p="http://schemas.openxmlformats.org/presentationml/2006/main">
  <p:sldMasterIdLst>
    <p:sldMasterId xmlns:r="http://schemas.openxmlformats.org/officeDocument/2006/relationships" id="2147483648" r:id="R6fde3b6c9067452a"/>
  </p:sldMasterIdLst>
  <p:notesMasterIdLst>
    <p:notesMasterId xmlns:r="http://schemas.openxmlformats.org/officeDocument/2006/relationships" r:id="Rf4a0a6027f2d4d9f"/>
  </p:notesMasterIdLst>
  <p:sldIdLst>
    <p:sldId xmlns:r="http://schemas.openxmlformats.org/officeDocument/2006/relationships" id="256" r:id="Rd9fe5b52c8e244d6"/>
    <p:sldId xmlns:r="http://schemas.openxmlformats.org/officeDocument/2006/relationships" id="257" r:id="R00f76dc480fd40e8"/>
    <p:sldId xmlns:r="http://schemas.openxmlformats.org/officeDocument/2006/relationships" id="258" r:id="R5e070c5c4cd243cc"/>
    <p:sldId xmlns:r="http://schemas.openxmlformats.org/officeDocument/2006/relationships" id="259" r:id="R7d1e3cf78c624e02"/>
    <p:sldId xmlns:r="http://schemas.openxmlformats.org/officeDocument/2006/relationships" id="260" r:id="Rb743c9e423ff4f61"/>
    <p:sldId xmlns:r="http://schemas.openxmlformats.org/officeDocument/2006/relationships" id="261" r:id="R257a6c0485c646a1"/>
    <p:sldId xmlns:r="http://schemas.openxmlformats.org/officeDocument/2006/relationships" id="262" r:id="R3cd3d796de4048e1"/>
    <p:sldId xmlns:r="http://schemas.openxmlformats.org/officeDocument/2006/relationships" id="263" r:id="Rd6698b3f06634ead"/>
    <p:sldId xmlns:r="http://schemas.openxmlformats.org/officeDocument/2006/relationships" id="264" r:id="Raf09dd10fef846dd"/>
    <p:sldId xmlns:r="http://schemas.openxmlformats.org/officeDocument/2006/relationships" id="265" r:id="Rb281410277d442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07a0f9d0934827" /><Relationship Type="http://schemas.openxmlformats.org/officeDocument/2006/relationships/slideMaster" Target="/ppt/slideMasters/slideMaster1.xml" Id="R6fde3b6c9067452a" /><Relationship Type="http://schemas.openxmlformats.org/officeDocument/2006/relationships/notesMaster" Target="/ppt/notesMasters/notesMaster1.xml" Id="Rf4a0a6027f2d4d9f" /><Relationship Type="http://schemas.openxmlformats.org/officeDocument/2006/relationships/presProps" Target="/ppt/presProps.xml" Id="R2370e750355846f4" /><Relationship Type="http://schemas.openxmlformats.org/officeDocument/2006/relationships/tableStyles" Target="/ppt/tableStyles.xml" Id="R69a2f45f2b1f4c12" /><Relationship Type="http://schemas.openxmlformats.org/officeDocument/2006/relationships/slide" Target="/ppt/slides/slide1.xml" Id="Rd9fe5b52c8e244d6" /><Relationship Type="http://schemas.openxmlformats.org/officeDocument/2006/relationships/slide" Target="/ppt/slides/slide2.xml" Id="R00f76dc480fd40e8" /><Relationship Type="http://schemas.openxmlformats.org/officeDocument/2006/relationships/slide" Target="/ppt/slides/slide3.xml" Id="R5e070c5c4cd243cc" /><Relationship Type="http://schemas.openxmlformats.org/officeDocument/2006/relationships/slide" Target="/ppt/slides/slide4.xml" Id="R7d1e3cf78c624e02" /><Relationship Type="http://schemas.openxmlformats.org/officeDocument/2006/relationships/slide" Target="/ppt/slides/slide5.xml" Id="Rb743c9e423ff4f61" /><Relationship Type="http://schemas.openxmlformats.org/officeDocument/2006/relationships/slide" Target="/ppt/slides/slide6.xml" Id="R257a6c0485c646a1" /><Relationship Type="http://schemas.openxmlformats.org/officeDocument/2006/relationships/slide" Target="/ppt/slides/slide7.xml" Id="R3cd3d796de4048e1" /><Relationship Type="http://schemas.openxmlformats.org/officeDocument/2006/relationships/slide" Target="/ppt/slides/slide8.xml" Id="Rd6698b3f06634ead" /><Relationship Type="http://schemas.openxmlformats.org/officeDocument/2006/relationships/slide" Target="/ppt/slides/slide9.xml" Id="Raf09dd10fef846dd" /><Relationship Type="http://schemas.openxmlformats.org/officeDocument/2006/relationships/slide" Target="/ppt/slides/slide10.xml" Id="Rb281410277d442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fd08af34bc46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a65967c2464bb6" /><Relationship Type="http://schemas.openxmlformats.org/officeDocument/2006/relationships/notesMaster" Target="/ppt/notesMasters/notesMaster1.xml" Id="R082527ab0a9540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0ed916a0fa445f" /><Relationship Type="http://schemas.openxmlformats.org/officeDocument/2006/relationships/notesMaster" Target="/ppt/notesMasters/notesMaster1.xml" Id="R68ebea8097ce43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1e66ce3a884012" /><Relationship Type="http://schemas.openxmlformats.org/officeDocument/2006/relationships/notesMaster" Target="/ppt/notesMasters/notesMaster1.xml" Id="R443999756e6943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cae22f5a224c9d" /><Relationship Type="http://schemas.openxmlformats.org/officeDocument/2006/relationships/notesMaster" Target="/ppt/notesMasters/notesMaster1.xml" Id="R3a6a3152ca684f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6c7d5f713d44d2" /><Relationship Type="http://schemas.openxmlformats.org/officeDocument/2006/relationships/notesMaster" Target="/ppt/notesMasters/notesMaster1.xml" Id="Re41e1a559d5c4b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fd1451f0314a34" /><Relationship Type="http://schemas.openxmlformats.org/officeDocument/2006/relationships/notesMaster" Target="/ppt/notesMasters/notesMaster1.xml" Id="Rf7d8c7d9aa8747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6daa53d00b4053" /><Relationship Type="http://schemas.openxmlformats.org/officeDocument/2006/relationships/notesMaster" Target="/ppt/notesMasters/notesMaster1.xml" Id="R4664ea5751914a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5109342b2f4b53" /><Relationship Type="http://schemas.openxmlformats.org/officeDocument/2006/relationships/notesMaster" Target="/ppt/notesMasters/notesMaster1.xml" Id="R2f393ce8f3ef43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0cf82eac724243" /><Relationship Type="http://schemas.openxmlformats.org/officeDocument/2006/relationships/notesMaster" Target="/ppt/notesMasters/notesMaster1.xml" Id="R0c6c8f834afc4e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362d9d694a4d86" /><Relationship Type="http://schemas.openxmlformats.org/officeDocument/2006/relationships/notesMaster" Target="/ppt/notesMasters/notesMaster1.xml" Id="R4a04a640917d4c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will show the Week 4 foundation: adaptive coaching style and an explicit Goal and Plan workspace. This extends my pre-existing GOAT AI platform. The examples are fictional and the system runs locally. We distinguish delivered application behavior from unvalidated coaching quality and future features. Sources: Week4-Progress-Report.md and approved Week 4 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faculty direction was to adapt the coaching persona and explore useful features, including Goal and Plan. Mingzhi supplied the four-profile mapping in the October 9 conversation. We implemented the Week 4 foundation, completed and reported on October 16, not retroactively on October 11. This is not delivery of all six future features. Sources: approved Week 4 plans; eir models/personas/planning/feature_store and web workspace; Week4-Progress-Report.md.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self-described background selects a starting style; explicit preference overrides it. Mixed or unknown backgrounds use general coaching. The final comparison records four backgrounds times initial/follow-up, with the same fictional facts and model. Styles are observable but overlap; this is not evidence of improved outcomes. Some model answers still address the founder as the customer; the engineering follow-up uses a hypothetical price probe and overstates price-elasticity inference. These remain quality limitations. Sources: eir/personas.py; tests/test_personas.py; persona-real.json; Persona-Review.md.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real screenshot of the local isolated fictional case, not a design mockup. Founder background and communication preference are editable in Venture profile. Confirm and save profile is required; the next call uses the confirmed revision. Old profiles load with defaults. Tests cover preference override, mixed/unknown backgrounds, restart, correction and venture isolation. Source: screenshot persona-detail.png from capture-week4-eir.mjs; tests/test_personas.py.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founder enters an objective, observable success criteria and constraints. The existing local GOAT API and Ollama model generate a typed JSON proposal. The real run proposed five interviews and two evidence-review tasks; the founder then simplified it to one counted task for the demonstration. The draft does not activate a goal or record completed work. Drafts are editable, approvable and rejectable. Invalid or unavailable model output leaves confirmed state unchanged. The screenshot shows the actual local goal form; source workflow-real.json, planning.py, feature_routes.py and UI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planned interviews, two founder-reported completed interviews, three remaining. The task remains in progress. Absolute counts prevent repeat confirmation from double counting; stale revisions and counts above the target are rejected. Reported results are explicitly unverified. A done task requires full target count and a written result. Goal achievement is blocked until a future criterion-by-criterion evidence review exists. Source: actual progress-detail.png, feature_models.py, planning.py, test_workspace.py and workflow-real.json.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new-session response used the approved workspace and reported evidence without replaying old turns. It retained 5/2/3 and warned about the two-person convenience sample. Replanning uses a proposed v2, not an overwrite of v1. The Revise approved plan button retains reported counts for review; fresh AI generation starts new zero-count tasks with a visible warning and keeps prior reports in history. SQLite revisions survive re-instantiation/restart tests. Source: workflow-real.json; test_workspace.py; eir/web/workspace.js.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automated results: 79 root EIR tests, including 42 workspace tests, 10 Persona tests and three context-budget tests. Ten isolated real-model workflow groups, 21 legacy UI checks and eight mock-network edge checks passed. Desktop 1440 and mobile 390, all three GOAT themes in light and dark were exercised. Eight final Persona outputs were read individually. An earlier workflow response called n=2 findings statistically insignificant without analysis; the original is preserved, policy strengthened and the workflow rerun. Remaining wording/probing weaknesses are recorded, not called expert-validated coaching. Sources: verification scripts, raw fictional outputs, Persona-Review.md and archive.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six features remain planned, not implemented by this milestone. Dependency order is Weekly Check-in after Goal/Plan continuity; Experiment Designer and Evidence Board for linked methods and observations; Decision Lab, Pitch Practice and Mentor Brief next. Their inclusion was Mingzhi product scope, not documented Ain approval. Acceptance deliverables and owners must be agreed, not assumed. R26 full closure still needs evidence-criteria review and richer planning metadata. Source: approved Goal/Plan roadmap and implementation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specific feedback, not a claim of approval. The three questions can be asked with the actual five-interview case. Team ownership remains unassigned until agreed. Existing GOAT AI remains Mingzhi pre-existing personal work; this milestone extends EIR-specific logic without changing the GOAT source, permissions or license. No legal interpretation of the Capstone agreement is implied. Sources: project boundaries and Week4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ce9249ae644f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7a4d58f71b40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e556331f9d48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6e7a7b0c0a48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e4c4067b98144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519ca693d2742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863C75-17BA-4265-87D7-D755DAD39A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ECF7C57-2431-45A0-AB87-5466D37073D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4E6E170-40DF-45F8-AA4A-0144719775B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66B49B-CFC1-4233-8B00-D47AEFF4FD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7A3F65-1C1C-450A-ADD1-421BAC5CE0E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C6E43FF-89E0-4B37-8B46-F5293A806E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8610E1-B5CD-46E0-B062-79C93AACFF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09578D-DFCD-4941-AAA0-26DB9FD3DDB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8ECE01-52FD-4E2E-A814-84C083C78E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43A228-2E64-4DCA-82BC-34DDB4D136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48ebdaea8b4756" /><Relationship Type="http://schemas.openxmlformats.org/officeDocument/2006/relationships/slideLayout" Target="/ppt/slideLayouts/slideLayout1.xml" Id="R2401adbd75784335" /><Relationship Type="http://schemas.openxmlformats.org/officeDocument/2006/relationships/slideLayout" Target="/ppt/slideLayouts/slideLayout2.xml" Id="R9530f5e46e6c43a9" /><Relationship Type="http://schemas.openxmlformats.org/officeDocument/2006/relationships/slideLayout" Target="/ppt/slideLayouts/slideLayout3.xml" Id="R0d900ea8244f4c4f" /><Relationship Type="http://schemas.openxmlformats.org/officeDocument/2006/relationships/slideLayout" Target="/ppt/slideLayouts/slideLayout4.xml" Id="R0c632fc7331947f9" /><Relationship Type="http://schemas.openxmlformats.org/officeDocument/2006/relationships/slideLayout" Target="/ppt/slideLayouts/slideLayout5.xml" Id="Rf594d24bbce041b1" /><Relationship Type="http://schemas.openxmlformats.org/officeDocument/2006/relationships/slideLayout" Target="/ppt/slideLayouts/slideLayout6.xml" Id="R7e1de738798540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01adbd75784335"/>
    <p:sldLayoutId xmlns:r="http://schemas.openxmlformats.org/officeDocument/2006/relationships" id="2147483650" r:id="R9530f5e46e6c43a9"/>
    <p:sldLayoutId xmlns:r="http://schemas.openxmlformats.org/officeDocument/2006/relationships" id="2147483651" r:id="R0d900ea8244f4c4f"/>
    <p:sldLayoutId xmlns:r="http://schemas.openxmlformats.org/officeDocument/2006/relationships" id="2147483652" r:id="R0c632fc7331947f9"/>
    <p:sldLayoutId xmlns:r="http://schemas.openxmlformats.org/officeDocument/2006/relationships" id="2147483653" r:id="Rf594d24bbce041b1"/>
    <p:sldLayoutId xmlns:r="http://schemas.openxmlformats.org/officeDocument/2006/relationships" id="2147483654" r:id="R7e1de738798540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e4ebca590664164" /><Relationship Type="http://schemas.openxmlformats.org/officeDocument/2006/relationships/notesSlide" Target="/ppt/notesSlides/notesSlide1.xml" Id="Rcc4fa125505f45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76da27a683435e" /><Relationship Type="http://schemas.openxmlformats.org/officeDocument/2006/relationships/notesSlide" Target="/ppt/notesSlides/notesSlide2.xml" Id="Rd5bd5d629af944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913ee0715c44e4" /><Relationship Type="http://schemas.openxmlformats.org/officeDocument/2006/relationships/notesSlide" Target="/ppt/notesSlides/notesSlide3.xml" Id="R6b1fb22b90a748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6c9b1e848834f2d" /><Relationship Type="http://schemas.openxmlformats.org/officeDocument/2006/relationships/image" Target="/ppt/media/image.png" Id="R487102af1c164855" /><Relationship Type="http://schemas.openxmlformats.org/officeDocument/2006/relationships/notesSlide" Target="/ppt/notesSlides/notesSlide4.xml" Id="R0d89eee05cf442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86d1ce62873455b" /><Relationship Type="http://schemas.openxmlformats.org/officeDocument/2006/relationships/image" Target="/ppt/media/image2.png" Id="R197cff0983b1489d" /><Relationship Type="http://schemas.openxmlformats.org/officeDocument/2006/relationships/notesSlide" Target="/ppt/notesSlides/notesSlide5.xml" Id="R44054939a74a4f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6cd44853cd74cc2" /><Relationship Type="http://schemas.openxmlformats.org/officeDocument/2006/relationships/image" Target="/ppt/media/image3.png" Id="R146c0c5fd58d4b5b" /><Relationship Type="http://schemas.openxmlformats.org/officeDocument/2006/relationships/notesSlide" Target="/ppt/notesSlides/notesSlide6.xml" Id="R6eaca81e35af4d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f62080542be4c01" /><Relationship Type="http://schemas.openxmlformats.org/officeDocument/2006/relationships/notesSlide" Target="/ppt/notesSlides/notesSlide7.xml" Id="R7b0a991164164f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faeb31914a847f7" /><Relationship Type="http://schemas.openxmlformats.org/officeDocument/2006/relationships/notesSlide" Target="/ppt/notesSlides/notesSlide8.xml" Id="R0e37cb98d50a46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2835ce19f941fc" /><Relationship Type="http://schemas.openxmlformats.org/officeDocument/2006/relationships/notesSlide" Target="/ppt/notesSlides/notesSlide9.xml" Id="R151077aa2ac843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ba9477358354a8b" /><Relationship Type="http://schemas.openxmlformats.org/officeDocument/2006/relationships/notesSlide" Target="/ppt/notesSlides/notesSlide10.xml" Id="Rffcd405530324294" /></Relationships>
</file>

<file path=ppt/slides/slide1.xml><?xml version="1.0" encoding="utf-8"?>
<p:sld xmlns:p="http://schemas.openxmlformats.org/presentationml/2006/main">
  <p:cSld>
    <p:bg>
      <p:bgPr>
        <a:solidFill xmlns:a="http://schemas.openxmlformats.org/drawingml/2006/main">
          <a:srgbClr val="0D142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3992B6A-E154-4CAC-801C-8249CE042EF8}"/>
              </a:ext>
            </a:extLst>
          </p:cNvPr>
          <p:cNvSpPr>
            <a:spLocks xmlns:a="http://schemas.openxmlformats.org/drawingml/2006/main" noGrp="1"/>
          </p:cNvSpPr>
          <p:nvPr/>
        </p:nvSpPr>
        <p:spPr>
          <a:xfrm xmlns:a="http://schemas.openxmlformats.org/drawingml/2006/main">
            <a:off x="685800" y="163830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FFFFFF"/>
                </a:solidFill>
                <a:latin typeface="Arial"/>
                <a:ea typeface="Arial"/>
                <a:cs typeface="Arial"/>
              </a:defRPr>
            </a:def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Virtual EIR</a:t>
            </a:r>
          </a:p>
        </p:txBody>
      </p:sp>
      <p:sp>
        <p:nvSpPr>
          <p:cNvPr id="2" name="">
            <a:extLst xmlns:a="http://schemas.openxmlformats.org/drawingml/2006/main">
              <a:ext uri="{FF2B5EF4-FFF2-40B4-BE49-F238E27FC236}">
                <a16:creationId xmlns:a16="http://schemas.microsoft.com/office/drawing/2014/main" id="{23F96CFA-7C1C-4D27-AA97-04F3CF1AB812}"/>
              </a:ext>
            </a:extLst>
          </p:cNvPr>
          <p:cNvSpPr>
            <a:spLocks xmlns:a="http://schemas.openxmlformats.org/drawingml/2006/main" noGrp="1"/>
          </p:cNvSpPr>
          <p:nvPr/>
        </p:nvSpPr>
        <p:spPr>
          <a:xfrm xmlns:a="http://schemas.openxmlformats.org/drawingml/2006/main">
            <a:off x="685800" y="298132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D1DCEE"/>
                </a:solidFill>
                <a:latin typeface="Arial"/>
                <a:ea typeface="Arial"/>
                <a:cs typeface="Arial"/>
              </a:defRPr>
            </a:defPPr>
          </a:lstStyle>
          <a:p xmlns:a="http://schemas.openxmlformats.org/drawingml/2006/main">
            <a:pPr>
              <a:defRPr sz="2250" b="0">
                <a:solidFill>
                  <a:srgbClr val="D1DCEE"/>
                </a:solidFill>
                <a:latin typeface="Arial"/>
                <a:ea typeface="Arial"/>
                <a:cs typeface="Arial"/>
              </a:defRPr>
            </a:pPr>
            <a:r>
              <a:rPr sz="2250" b="0">
                <a:solidFill>
                  <a:srgbClr val="D1DCEE"/>
                </a:solidFill>
                <a:latin typeface="Arial"/>
                <a:ea typeface="Arial"/>
                <a:cs typeface="Arial"/>
              </a:rPr>
              <a:t>Week 4 milestone</a:t>
            </a:r>
          </a:p>
          <a:p xmlns:a="http://schemas.openxmlformats.org/drawingml/2006/main">
            <a:pPr>
              <a:defRPr sz="2250" b="0">
                <a:solidFill>
                  <a:srgbClr val="D1DCEE"/>
                </a:solidFill>
                <a:latin typeface="Arial"/>
                <a:ea typeface="Arial"/>
                <a:cs typeface="Arial"/>
              </a:defRPr>
            </a:pPr>
            <a:r>
              <a:rPr sz="2250" b="0">
                <a:solidFill>
                  <a:srgbClr val="D1DCEE"/>
                </a:solidFill>
                <a:latin typeface="Arial"/>
                <a:ea typeface="Arial"/>
                <a:cs typeface="Arial"/>
              </a:rPr>
              <a:t>Adaptive coaching and founder action planning</a:t>
            </a:r>
          </a:p>
        </p:txBody>
      </p:sp>
      <p:sp>
        <p:nvSpPr>
          <p:cNvPr id="3" name="">
            <a:extLst xmlns:a="http://schemas.openxmlformats.org/drawingml/2006/main">
              <a:ext uri="{FF2B5EF4-FFF2-40B4-BE49-F238E27FC236}">
                <a16:creationId xmlns:a16="http://schemas.microsoft.com/office/drawing/2014/main" id="{5D651AD7-A3F3-4434-9B24-D9BBAF0180A2}"/>
              </a:ext>
            </a:extLst>
          </p:cNvPr>
          <p:cNvSpPr>
            <a:spLocks xmlns:a="http://schemas.openxmlformats.org/drawingml/2006/main" noGrp="1"/>
          </p:cNvSpPr>
          <p:nvPr/>
        </p:nvSpPr>
        <p:spPr>
          <a:xfrm xmlns:a="http://schemas.openxmlformats.org/drawingml/2006/main">
            <a:off x="685800" y="5762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B7C6DC"/>
                </a:solidFill>
                <a:latin typeface="Arial"/>
                <a:ea typeface="Arial"/>
                <a:cs typeface="Arial"/>
              </a:defRPr>
            </a:defPPr>
          </a:lstStyle>
          <a:p xmlns:a="http://schemas.openxmlformats.org/drawingml/2006/main">
            <a:pPr>
              <a:defRPr sz="1575" b="0">
                <a:solidFill>
                  <a:srgbClr val="B7C6DC"/>
                </a:solidFill>
                <a:latin typeface="Arial"/>
                <a:ea typeface="Arial"/>
                <a:cs typeface="Arial"/>
              </a:defRPr>
            </a:pPr>
            <a:r>
              <a:rPr sz="1575" b="0">
                <a:solidFill>
                  <a:srgbClr val="B7C6DC"/>
                </a:solidFill>
                <a:latin typeface="Arial"/>
                <a:ea typeface="Arial"/>
                <a:cs typeface="Arial"/>
              </a:rPr>
              <a:t>Mingzhi Hu  /  Faculty update  /  October 16, 2026</a:t>
            </a:r>
          </a:p>
        </p:txBody>
      </p:sp>
    </p:spTree>
    <p:extLst>
      <p:ext uri="{BB962C8B-B14F-4D97-AF65-F5344CB8AC3E}">
        <p14:creationId xmlns:p14="http://schemas.microsoft.com/office/powerpoint/2010/main" val="10849267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79D8BF-5ECB-45EF-A8DB-0B177DBB910D}"/>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5CE2"/>
                </a:solidFill>
                <a:latin typeface="Arial"/>
                <a:ea typeface="Arial"/>
                <a:cs typeface="Arial"/>
              </a:defRPr>
            </a:defPPr>
          </a:lstStyle>
          <a:p xmlns:a="http://schemas.openxmlformats.org/drawingml/2006/main">
            <a:pPr>
              <a:defRPr sz="1275" b="1">
                <a:solidFill>
                  <a:srgbClr val="245CE2"/>
                </a:solidFill>
                <a:latin typeface="Arial"/>
                <a:ea typeface="Arial"/>
                <a:cs typeface="Arial"/>
              </a:defRPr>
            </a:pPr>
            <a:r>
              <a:rPr sz="1275" b="1">
                <a:solidFill>
                  <a:srgbClr val="245CE2"/>
                </a:solidFill>
                <a:latin typeface="Arial"/>
                <a:ea typeface="Arial"/>
                <a:cs typeface="Arial"/>
              </a:rPr>
              <a:t>DELIVERED SCOPE</a:t>
            </a:r>
          </a:p>
        </p:txBody>
      </p:sp>
      <p:sp>
        <p:nvSpPr>
          <p:cNvPr id="2" name="">
            <a:extLst xmlns:a="http://schemas.openxmlformats.org/drawingml/2006/main">
              <a:ext uri="{FF2B5EF4-FFF2-40B4-BE49-F238E27FC236}">
                <a16:creationId xmlns:a16="http://schemas.microsoft.com/office/drawing/2014/main" id="{EDD4A43A-F58D-4A80-A453-C371D80EF333}"/>
              </a:ext>
            </a:extLst>
          </p:cNvPr>
          <p:cNvSpPr>
            <a:spLocks xmlns:a="http://schemas.openxmlformats.org/drawingml/2006/main" noGrp="1"/>
          </p:cNvSpPr>
          <p:nvPr/>
        </p:nvSpPr>
        <p:spPr>
          <a:xfrm xmlns:a="http://schemas.openxmlformats.org/drawingml/2006/main">
            <a:off x="609600" y="7239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43A"/>
                </a:solidFill>
                <a:latin typeface="Arial"/>
                <a:ea typeface="Arial"/>
                <a:cs typeface="Arial"/>
              </a:defRPr>
            </a:defPPr>
          </a:lstStyle>
          <a:p xmlns:a="http://schemas.openxmlformats.org/drawingml/2006/main">
            <a:pPr>
              <a:defRPr sz="2850" b="1">
                <a:solidFill>
                  <a:srgbClr val="14243A"/>
                </a:solidFill>
                <a:latin typeface="Arial"/>
                <a:ea typeface="Arial"/>
                <a:cs typeface="Arial"/>
              </a:defRPr>
            </a:pPr>
            <a:r>
              <a:rPr sz="2850" b="1">
                <a:solidFill>
                  <a:srgbClr val="14243A"/>
                </a:solidFill>
                <a:latin typeface="Arial"/>
                <a:ea typeface="Arial"/>
                <a:cs typeface="Arial"/>
              </a:rPr>
              <a:t>From a continuing chat to a founder workspace</a:t>
            </a:r>
          </a:p>
        </p:txBody>
      </p:sp>
      <p:sp>
        <p:nvSpPr>
          <p:cNvPr id="3" name="">
            <a:extLst xmlns:a="http://schemas.openxmlformats.org/drawingml/2006/main">
              <a:ext uri="{FF2B5EF4-FFF2-40B4-BE49-F238E27FC236}">
                <a16:creationId xmlns:a16="http://schemas.microsoft.com/office/drawing/2014/main" id="{292656C7-8AAA-4858-A07C-2516E47CD1CF}"/>
              </a:ext>
            </a:extLst>
          </p:cNvPr>
          <p:cNvSpPr>
            <a:spLocks xmlns:a="http://schemas.openxmlformats.org/drawingml/2006/main" noGrp="1"/>
          </p:cNvSpPr>
          <p:nvPr/>
        </p:nvSpPr>
        <p:spPr>
          <a:xfrm xmlns:a="http://schemas.openxmlformats.org/drawingml/2006/main">
            <a:off x="6096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VIRTUAL EIR  /  WEEK 4 MILESTONE  /  OCT 16, 2026</a:t>
            </a:r>
          </a:p>
        </p:txBody>
      </p:sp>
      <p:sp>
        <p:nvSpPr>
          <p:cNvPr id="4" name="">
            <a:extLst xmlns:a="http://schemas.openxmlformats.org/drawingml/2006/main">
              <a:ext uri="{FF2B5EF4-FFF2-40B4-BE49-F238E27FC236}">
                <a16:creationId xmlns:a16="http://schemas.microsoft.com/office/drawing/2014/main" id="{C0160B04-9CF1-4AEC-B7E0-0DD905D78B72}"/>
              </a:ext>
            </a:extLst>
          </p:cNvPr>
          <p:cNvSpPr>
            <a:spLocks xmlns:a="http://schemas.openxmlformats.org/drawingml/2006/main" noGrp="1"/>
          </p:cNvSpPr>
          <p:nvPr/>
        </p:nvSpPr>
        <p:spPr>
          <a:xfrm xmlns:a="http://schemas.openxmlformats.org/drawingml/2006/main">
            <a:off x="10972800" y="64008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3CEE5D7-6B94-4FFC-BC38-717C699A7B9F}"/>
              </a:ext>
            </a:extLst>
          </p:cNvPr>
          <p:cNvSpPr>
            <a:spLocks xmlns:a="http://schemas.openxmlformats.org/drawingml/2006/main" noGrp="1"/>
          </p:cNvSpPr>
          <p:nvPr/>
        </p:nvSpPr>
        <p:spPr>
          <a:xfrm xmlns:a="http://schemas.openxmlformats.org/drawingml/2006/main">
            <a:off x="647700" y="194310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Adapt the explanation to the founder — keep the facts unchanged.</a:t>
            </a:r>
          </a:p>
        </p:txBody>
      </p:sp>
      <p:sp>
        <p:nvSpPr>
          <p:cNvPr id="6" name="">
            <a:extLst xmlns:a="http://schemas.openxmlformats.org/drawingml/2006/main">
              <a:ext uri="{FF2B5EF4-FFF2-40B4-BE49-F238E27FC236}">
                <a16:creationId xmlns:a16="http://schemas.microsoft.com/office/drawing/2014/main" id="{214740B8-C2AF-4F22-B13C-95AD26B45DE3}"/>
              </a:ext>
            </a:extLst>
          </p:cNvPr>
          <p:cNvSpPr>
            <a:spLocks xmlns:a="http://schemas.openxmlformats.org/drawingml/2006/main" noGrp="1"/>
          </p:cNvSpPr>
          <p:nvPr/>
        </p:nvSpPr>
        <p:spPr>
          <a:xfrm xmlns:a="http://schemas.openxmlformats.org/drawingml/2006/main">
            <a:off x="647700" y="2886075"/>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Define a measurable goal, review a plan, then approve it.</a:t>
            </a:r>
          </a:p>
        </p:txBody>
      </p:sp>
      <p:sp>
        <p:nvSpPr>
          <p:cNvPr id="7" name="">
            <a:extLst xmlns:a="http://schemas.openxmlformats.org/drawingml/2006/main">
              <a:ext uri="{FF2B5EF4-FFF2-40B4-BE49-F238E27FC236}">
                <a16:creationId xmlns:a16="http://schemas.microsoft.com/office/drawing/2014/main" id="{8AF85A76-B8B3-44C3-9592-9BDD379FE91D}"/>
              </a:ext>
            </a:extLst>
          </p:cNvPr>
          <p:cNvSpPr>
            <a:spLocks xmlns:a="http://schemas.openxmlformats.org/drawingml/2006/main" noGrp="1"/>
          </p:cNvSpPr>
          <p:nvPr/>
        </p:nvSpPr>
        <p:spPr>
          <a:xfrm xmlns:a="http://schemas.openxmlformats.org/drawingml/2006/main">
            <a:off x="647700" y="3829050"/>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Record real-world work explicitly; retain earlier plan versions.</a:t>
            </a:r>
          </a:p>
        </p:txBody>
      </p:sp>
      <p:sp>
        <p:nvSpPr>
          <p:cNvPr id="8" name="">
            <a:extLst xmlns:a="http://schemas.openxmlformats.org/drawingml/2006/main">
              <a:ext uri="{FF2B5EF4-FFF2-40B4-BE49-F238E27FC236}">
                <a16:creationId xmlns:a16="http://schemas.microsoft.com/office/drawing/2014/main" id="{B306E259-11AD-436B-950D-077B03113AD1}"/>
              </a:ext>
            </a:extLst>
          </p:cNvPr>
          <p:cNvSpPr>
            <a:spLocks xmlns:a="http://schemas.openxmlformats.org/drawingml/2006/main" noGrp="1"/>
          </p:cNvSpPr>
          <p:nvPr/>
        </p:nvSpPr>
        <p:spPr>
          <a:xfrm xmlns:a="http://schemas.openxmlformats.org/drawingml/2006/main">
            <a:off x="647700" y="4772025"/>
            <a:ext cx="10572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Reuse GOAT AI inference and appearance; extend the EIR layer.</a:t>
            </a:r>
          </a:p>
        </p:txBody>
      </p:sp>
    </p:spTree>
    <p:extLst>
      <p:ext uri="{BB962C8B-B14F-4D97-AF65-F5344CB8AC3E}">
        <p14:creationId xmlns:p14="http://schemas.microsoft.com/office/powerpoint/2010/main" val="13750404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8434A9B-4167-4FC4-B018-40388A27A6FB}"/>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5CE2"/>
                </a:solidFill>
                <a:latin typeface="Arial"/>
                <a:ea typeface="Arial"/>
                <a:cs typeface="Arial"/>
              </a:defRPr>
            </a:defPPr>
          </a:lstStyle>
          <a:p xmlns:a="http://schemas.openxmlformats.org/drawingml/2006/main">
            <a:pPr>
              <a:defRPr sz="1275" b="1">
                <a:solidFill>
                  <a:srgbClr val="245CE2"/>
                </a:solidFill>
                <a:latin typeface="Arial"/>
                <a:ea typeface="Arial"/>
                <a:cs typeface="Arial"/>
              </a:defRPr>
            </a:pPr>
            <a:r>
              <a:rPr sz="1275" b="1">
                <a:solidFill>
                  <a:srgbClr val="245CE2"/>
                </a:solidFill>
                <a:latin typeface="Arial"/>
                <a:ea typeface="Arial"/>
                <a:cs typeface="Arial"/>
              </a:rPr>
              <a:t>ADAPTIVE PERSONA</a:t>
            </a:r>
          </a:p>
        </p:txBody>
      </p:sp>
      <p:sp>
        <p:nvSpPr>
          <p:cNvPr id="2" name="">
            <a:extLst xmlns:a="http://schemas.openxmlformats.org/drawingml/2006/main">
              <a:ext uri="{FF2B5EF4-FFF2-40B4-BE49-F238E27FC236}">
                <a16:creationId xmlns:a16="http://schemas.microsoft.com/office/drawing/2014/main" id="{1E58866A-F904-4EE5-870C-A6E856A3C1A7}"/>
              </a:ext>
            </a:extLst>
          </p:cNvPr>
          <p:cNvSpPr>
            <a:spLocks xmlns:a="http://schemas.openxmlformats.org/drawingml/2006/main" noGrp="1"/>
          </p:cNvSpPr>
          <p:nvPr/>
        </p:nvSpPr>
        <p:spPr>
          <a:xfrm xmlns:a="http://schemas.openxmlformats.org/drawingml/2006/main">
            <a:off x="609600" y="7239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43A"/>
                </a:solidFill>
                <a:latin typeface="Arial"/>
                <a:ea typeface="Arial"/>
                <a:cs typeface="Arial"/>
              </a:defRPr>
            </a:defPPr>
          </a:lstStyle>
          <a:p xmlns:a="http://schemas.openxmlformats.org/drawingml/2006/main">
            <a:pPr>
              <a:defRPr sz="2850" b="1">
                <a:solidFill>
                  <a:srgbClr val="14243A"/>
                </a:solidFill>
                <a:latin typeface="Arial"/>
                <a:ea typeface="Arial"/>
                <a:cs typeface="Arial"/>
              </a:defRPr>
            </a:pPr>
            <a:r>
              <a:rPr sz="2850" b="1">
                <a:solidFill>
                  <a:srgbClr val="14243A"/>
                </a:solidFill>
                <a:latin typeface="Arial"/>
                <a:ea typeface="Arial"/>
                <a:cs typeface="Arial"/>
              </a:rPr>
              <a:t>Four communication styles, one evidence standard</a:t>
            </a:r>
          </a:p>
        </p:txBody>
      </p:sp>
      <p:sp>
        <p:nvSpPr>
          <p:cNvPr id="3" name="">
            <a:extLst xmlns:a="http://schemas.openxmlformats.org/drawingml/2006/main">
              <a:ext uri="{FF2B5EF4-FFF2-40B4-BE49-F238E27FC236}">
                <a16:creationId xmlns:a16="http://schemas.microsoft.com/office/drawing/2014/main" id="{A175C304-22A8-4ED4-B839-244889F12A07}"/>
              </a:ext>
            </a:extLst>
          </p:cNvPr>
          <p:cNvSpPr>
            <a:spLocks xmlns:a="http://schemas.openxmlformats.org/drawingml/2006/main" noGrp="1"/>
          </p:cNvSpPr>
          <p:nvPr/>
        </p:nvSpPr>
        <p:spPr>
          <a:xfrm xmlns:a="http://schemas.openxmlformats.org/drawingml/2006/main">
            <a:off x="6096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VIRTUAL EIR  /  WEEK 4 MILESTONE  /  OCT 16, 2026</a:t>
            </a:r>
          </a:p>
        </p:txBody>
      </p:sp>
      <p:sp>
        <p:nvSpPr>
          <p:cNvPr id="4" name="">
            <a:extLst xmlns:a="http://schemas.openxmlformats.org/drawingml/2006/main">
              <a:ext uri="{FF2B5EF4-FFF2-40B4-BE49-F238E27FC236}">
                <a16:creationId xmlns:a16="http://schemas.microsoft.com/office/drawing/2014/main" id="{76967B8A-4011-4782-8364-9F47BC059ADC}"/>
              </a:ext>
            </a:extLst>
          </p:cNvPr>
          <p:cNvSpPr>
            <a:spLocks xmlns:a="http://schemas.openxmlformats.org/drawingml/2006/main" noGrp="1"/>
          </p:cNvSpPr>
          <p:nvPr/>
        </p:nvSpPr>
        <p:spPr>
          <a:xfrm xmlns:a="http://schemas.openxmlformats.org/drawingml/2006/main">
            <a:off x="10972800" y="64008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60A9A8E-DC12-41C2-8780-B9AD4C70EE58}"/>
              </a:ext>
            </a:extLst>
          </p:cNvPr>
          <p:cNvSpPr>
            <a:spLocks xmlns:a="http://schemas.openxmlformats.org/drawingml/2006/main" noGrp="1"/>
          </p:cNvSpPr>
          <p:nvPr/>
        </p:nvSpPr>
        <p:spPr>
          <a:xfrm xmlns:a="http://schemas.openxmlformats.org/drawingml/2006/main">
            <a:off x="647700" y="19145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5CE2"/>
                </a:solidFill>
                <a:latin typeface="Arial"/>
                <a:ea typeface="Arial"/>
                <a:cs typeface="Arial"/>
              </a:defRPr>
            </a:defPPr>
          </a:lstStyle>
          <a:p xmlns:a="http://schemas.openxmlformats.org/drawingml/2006/main">
            <a:pPr>
              <a:defRPr sz="2025" b="1">
                <a:solidFill>
                  <a:srgbClr val="245CE2"/>
                </a:solidFill>
                <a:latin typeface="Arial"/>
                <a:ea typeface="Arial"/>
                <a:cs typeface="Arial"/>
              </a:defRPr>
            </a:pPr>
            <a:r>
              <a:rPr sz="2025" b="1">
                <a:solidFill>
                  <a:srgbClr val="245CE2"/>
                </a:solidFill>
                <a:latin typeface="Arial"/>
                <a:ea typeface="Arial"/>
                <a:cs typeface="Arial"/>
              </a:rPr>
              <a:t>Engineer</a:t>
            </a:r>
          </a:p>
        </p:txBody>
      </p:sp>
      <p:sp>
        <p:nvSpPr>
          <p:cNvPr id="6" name="">
            <a:extLst xmlns:a="http://schemas.openxmlformats.org/drawingml/2006/main">
              <a:ext uri="{FF2B5EF4-FFF2-40B4-BE49-F238E27FC236}">
                <a16:creationId xmlns:a16="http://schemas.microsoft.com/office/drawing/2014/main" id="{01DD29CC-C477-4306-8108-E33FD651C539}"/>
              </a:ext>
            </a:extLst>
          </p:cNvPr>
          <p:cNvSpPr>
            <a:spLocks xmlns:a="http://schemas.openxmlformats.org/drawingml/2006/main" noGrp="1"/>
          </p:cNvSpPr>
          <p:nvPr/>
        </p:nvSpPr>
        <p:spPr>
          <a:xfrm xmlns:a="http://schemas.openxmlformats.org/drawingml/2006/main">
            <a:off x="4095750" y="1914525"/>
            <a:ext cx="733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Technical constraints, trade-offs, measurable tests</a:t>
            </a:r>
          </a:p>
        </p:txBody>
      </p:sp>
      <p:sp>
        <p:nvSpPr>
          <p:cNvPr id="7" name="">
            <a:extLst xmlns:a="http://schemas.openxmlformats.org/drawingml/2006/main">
              <a:ext uri="{FF2B5EF4-FFF2-40B4-BE49-F238E27FC236}">
                <a16:creationId xmlns:a16="http://schemas.microsoft.com/office/drawing/2014/main" id="{3C74DEF6-AE19-4D87-BC56-B3E6D619B4C6}"/>
              </a:ext>
            </a:extLst>
          </p:cNvPr>
          <p:cNvSpPr>
            <a:spLocks xmlns:a="http://schemas.openxmlformats.org/drawingml/2006/main" noGrp="1"/>
          </p:cNvSpPr>
          <p:nvPr/>
        </p:nvSpPr>
        <p:spPr>
          <a:xfrm xmlns:a="http://schemas.openxmlformats.org/drawingml/2006/main">
            <a:off x="647700" y="27527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5CE2"/>
                </a:solidFill>
                <a:latin typeface="Arial"/>
                <a:ea typeface="Arial"/>
                <a:cs typeface="Arial"/>
              </a:defRPr>
            </a:defPPr>
          </a:lstStyle>
          <a:p xmlns:a="http://schemas.openxmlformats.org/drawingml/2006/main">
            <a:pPr>
              <a:defRPr sz="2025" b="1">
                <a:solidFill>
                  <a:srgbClr val="245CE2"/>
                </a:solidFill>
                <a:latin typeface="Arial"/>
                <a:ea typeface="Arial"/>
                <a:cs typeface="Arial"/>
              </a:defRPr>
            </a:pPr>
            <a:r>
              <a:rPr sz="2025" b="1">
                <a:solidFill>
                  <a:srgbClr val="245CE2"/>
                </a:solidFill>
                <a:latin typeface="Arial"/>
                <a:ea typeface="Arial"/>
                <a:cs typeface="Arial"/>
              </a:rPr>
              <a:t>Artist</a:t>
            </a:r>
          </a:p>
        </p:txBody>
      </p:sp>
      <p:sp>
        <p:nvSpPr>
          <p:cNvPr id="8" name="">
            <a:extLst xmlns:a="http://schemas.openxmlformats.org/drawingml/2006/main">
              <a:ext uri="{FF2B5EF4-FFF2-40B4-BE49-F238E27FC236}">
                <a16:creationId xmlns:a16="http://schemas.microsoft.com/office/drawing/2014/main" id="{6488D39E-B982-4D11-87AF-C72A13B42DF6}"/>
              </a:ext>
            </a:extLst>
          </p:cNvPr>
          <p:cNvSpPr>
            <a:spLocks xmlns:a="http://schemas.openxmlformats.org/drawingml/2006/main" noGrp="1"/>
          </p:cNvSpPr>
          <p:nvPr/>
        </p:nvSpPr>
        <p:spPr>
          <a:xfrm xmlns:a="http://schemas.openxmlformats.org/drawingml/2006/main">
            <a:off x="4095750" y="2752725"/>
            <a:ext cx="733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Experience, empathetic language, narrative framing</a:t>
            </a:r>
          </a:p>
        </p:txBody>
      </p:sp>
      <p:sp>
        <p:nvSpPr>
          <p:cNvPr id="9" name="">
            <a:extLst xmlns:a="http://schemas.openxmlformats.org/drawingml/2006/main">
              <a:ext uri="{FF2B5EF4-FFF2-40B4-BE49-F238E27FC236}">
                <a16:creationId xmlns:a16="http://schemas.microsoft.com/office/drawing/2014/main" id="{E2C38AAF-9005-4894-A949-F9A8E0FD7A0B}"/>
              </a:ext>
            </a:extLst>
          </p:cNvPr>
          <p:cNvSpPr>
            <a:spLocks xmlns:a="http://schemas.openxmlformats.org/drawingml/2006/main" noGrp="1"/>
          </p:cNvSpPr>
          <p:nvPr/>
        </p:nvSpPr>
        <p:spPr>
          <a:xfrm xmlns:a="http://schemas.openxmlformats.org/drawingml/2006/main">
            <a:off x="647700" y="35909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5CE2"/>
                </a:solidFill>
                <a:latin typeface="Arial"/>
                <a:ea typeface="Arial"/>
                <a:cs typeface="Arial"/>
              </a:defRPr>
            </a:defPPr>
          </a:lstStyle>
          <a:p xmlns:a="http://schemas.openxmlformats.org/drawingml/2006/main">
            <a:pPr>
              <a:defRPr sz="2025" b="1">
                <a:solidFill>
                  <a:srgbClr val="245CE2"/>
                </a:solidFill>
                <a:latin typeface="Arial"/>
                <a:ea typeface="Arial"/>
                <a:cs typeface="Arial"/>
              </a:defRPr>
            </a:pPr>
            <a:r>
              <a:rPr sz="2025" b="1">
                <a:solidFill>
                  <a:srgbClr val="245CE2"/>
                </a:solidFill>
                <a:latin typeface="Arial"/>
                <a:ea typeface="Arial"/>
                <a:cs typeface="Arial"/>
              </a:rPr>
              <a:t>Scientist</a:t>
            </a:r>
          </a:p>
        </p:txBody>
      </p:sp>
      <p:sp>
        <p:nvSpPr>
          <p:cNvPr id="10" name="">
            <a:extLst xmlns:a="http://schemas.openxmlformats.org/drawingml/2006/main">
              <a:ext uri="{FF2B5EF4-FFF2-40B4-BE49-F238E27FC236}">
                <a16:creationId xmlns:a16="http://schemas.microsoft.com/office/drawing/2014/main" id="{F30AE40A-0D3B-4A02-B654-A04CE0B91B40}"/>
              </a:ext>
            </a:extLst>
          </p:cNvPr>
          <p:cNvSpPr>
            <a:spLocks xmlns:a="http://schemas.openxmlformats.org/drawingml/2006/main" noGrp="1"/>
          </p:cNvSpPr>
          <p:nvPr/>
        </p:nvSpPr>
        <p:spPr>
          <a:xfrm xmlns:a="http://schemas.openxmlformats.org/drawingml/2006/main">
            <a:off x="4095750" y="3590925"/>
            <a:ext cx="733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Hypotheses, methods, observations, limitations</a:t>
            </a:r>
          </a:p>
        </p:txBody>
      </p:sp>
      <p:sp>
        <p:nvSpPr>
          <p:cNvPr id="11" name="">
            <a:extLst xmlns:a="http://schemas.openxmlformats.org/drawingml/2006/main">
              <a:ext uri="{FF2B5EF4-FFF2-40B4-BE49-F238E27FC236}">
                <a16:creationId xmlns:a16="http://schemas.microsoft.com/office/drawing/2014/main" id="{FF497DDC-E7C3-4F0C-B67F-E56E0F91D2D1}"/>
              </a:ext>
            </a:extLst>
          </p:cNvPr>
          <p:cNvSpPr>
            <a:spLocks xmlns:a="http://schemas.openxmlformats.org/drawingml/2006/main" noGrp="1"/>
          </p:cNvSpPr>
          <p:nvPr/>
        </p:nvSpPr>
        <p:spPr>
          <a:xfrm xmlns:a="http://schemas.openxmlformats.org/drawingml/2006/main">
            <a:off x="647700" y="442912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45CE2"/>
                </a:solidFill>
                <a:latin typeface="Arial"/>
                <a:ea typeface="Arial"/>
                <a:cs typeface="Arial"/>
              </a:defRPr>
            </a:defPPr>
          </a:lstStyle>
          <a:p xmlns:a="http://schemas.openxmlformats.org/drawingml/2006/main">
            <a:pPr>
              <a:defRPr sz="2025" b="1">
                <a:solidFill>
                  <a:srgbClr val="245CE2"/>
                </a:solidFill>
                <a:latin typeface="Arial"/>
                <a:ea typeface="Arial"/>
                <a:cs typeface="Arial"/>
              </a:defRPr>
            </a:pPr>
            <a:r>
              <a:rPr sz="2025" b="1">
                <a:solidFill>
                  <a:srgbClr val="245CE2"/>
                </a:solidFill>
                <a:latin typeface="Arial"/>
                <a:ea typeface="Arial"/>
                <a:cs typeface="Arial"/>
              </a:rPr>
              <a:t>Business professional</a:t>
            </a:r>
          </a:p>
        </p:txBody>
      </p:sp>
      <p:sp>
        <p:nvSpPr>
          <p:cNvPr id="12" name="">
            <a:extLst xmlns:a="http://schemas.openxmlformats.org/drawingml/2006/main">
              <a:ext uri="{FF2B5EF4-FFF2-40B4-BE49-F238E27FC236}">
                <a16:creationId xmlns:a16="http://schemas.microsoft.com/office/drawing/2014/main" id="{B0D91077-B9F5-4854-AE2D-3452E5FB663F}"/>
              </a:ext>
            </a:extLst>
          </p:cNvPr>
          <p:cNvSpPr>
            <a:spLocks xmlns:a="http://schemas.openxmlformats.org/drawingml/2006/main" noGrp="1"/>
          </p:cNvSpPr>
          <p:nvPr/>
        </p:nvSpPr>
        <p:spPr>
          <a:xfrm xmlns:a="http://schemas.openxmlformats.org/drawingml/2006/main">
            <a:off x="4095750" y="4429125"/>
            <a:ext cx="733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Customer segment, value, cost and decision trade-offs</a:t>
            </a:r>
          </a:p>
        </p:txBody>
      </p:sp>
      <p:sp>
        <p:nvSpPr>
          <p:cNvPr id="13" name="">
            <a:extLst xmlns:a="http://schemas.openxmlformats.org/drawingml/2006/main">
              <a:ext uri="{FF2B5EF4-FFF2-40B4-BE49-F238E27FC236}">
                <a16:creationId xmlns:a16="http://schemas.microsoft.com/office/drawing/2014/main" id="{33E3C97B-635C-4E20-8708-65B0FABA8049}"/>
              </a:ext>
            </a:extLst>
          </p:cNvPr>
          <p:cNvSpPr>
            <a:spLocks xmlns:a="http://schemas.openxmlformats.org/drawingml/2006/main" noGrp="1"/>
          </p:cNvSpPr>
          <p:nvPr/>
        </p:nvSpPr>
        <p:spPr>
          <a:xfrm xmlns:a="http://schemas.openxmlformats.org/drawingml/2006/main">
            <a:off x="647700" y="55626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6657A"/>
                </a:solidFill>
                <a:latin typeface="Arial"/>
                <a:ea typeface="Arial"/>
                <a:cs typeface="Arial"/>
              </a:defRPr>
            </a:defPPr>
          </a:lstStyle>
          <a:p xmlns:a="http://schemas.openxmlformats.org/drawingml/2006/main">
            <a:pPr>
              <a:defRPr sz="1650" b="0">
                <a:solidFill>
                  <a:srgbClr val="56657A"/>
                </a:solidFill>
                <a:latin typeface="Arial"/>
                <a:ea typeface="Arial"/>
                <a:cs typeface="Arial"/>
              </a:defRPr>
            </a:pPr>
            <a:r>
              <a:rPr sz="1650" b="0">
                <a:solidFill>
                  <a:srgbClr val="56657A"/>
                </a:solidFill>
                <a:latin typeface="Arial"/>
                <a:ea typeface="Arial"/>
                <a:cs typeface="Arial"/>
              </a:rPr>
              <a:t>8 recorded English responses  ·  Shared facts  ·  User-selected preference</a:t>
            </a:r>
          </a:p>
        </p:txBody>
      </p:sp>
    </p:spTree>
    <p:extLst>
      <p:ext uri="{BB962C8B-B14F-4D97-AF65-F5344CB8AC3E}">
        <p14:creationId xmlns:p14="http://schemas.microsoft.com/office/powerpoint/2010/main" val="14093528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FA62D32-6B52-473C-A1DD-4875E83FE01C}"/>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5CE2"/>
                </a:solidFill>
                <a:latin typeface="Arial"/>
                <a:ea typeface="Arial"/>
                <a:cs typeface="Arial"/>
              </a:defRPr>
            </a:defPPr>
          </a:lstStyle>
          <a:p xmlns:a="http://schemas.openxmlformats.org/drawingml/2006/main">
            <a:pPr>
              <a:defRPr sz="1275" b="1">
                <a:solidFill>
                  <a:srgbClr val="245CE2"/>
                </a:solidFill>
                <a:latin typeface="Arial"/>
                <a:ea typeface="Arial"/>
                <a:cs typeface="Arial"/>
              </a:defRPr>
            </a:pPr>
            <a:r>
              <a:rPr sz="1275" b="1">
                <a:solidFill>
                  <a:srgbClr val="245CE2"/>
                </a:solidFill>
                <a:latin typeface="Arial"/>
                <a:ea typeface="Arial"/>
                <a:cs typeface="Arial"/>
              </a:rPr>
              <a:t>ACTUAL INTERFACE</a:t>
            </a:r>
          </a:p>
        </p:txBody>
      </p:sp>
      <p:sp>
        <p:nvSpPr>
          <p:cNvPr id="2" name="">
            <a:extLst xmlns:a="http://schemas.openxmlformats.org/drawingml/2006/main">
              <a:ext uri="{FF2B5EF4-FFF2-40B4-BE49-F238E27FC236}">
                <a16:creationId xmlns:a16="http://schemas.microsoft.com/office/drawing/2014/main" id="{2653A397-A55F-439E-9C54-8830B443F813}"/>
              </a:ext>
            </a:extLst>
          </p:cNvPr>
          <p:cNvSpPr>
            <a:spLocks xmlns:a="http://schemas.openxmlformats.org/drawingml/2006/main" noGrp="1"/>
          </p:cNvSpPr>
          <p:nvPr/>
        </p:nvSpPr>
        <p:spPr>
          <a:xfrm xmlns:a="http://schemas.openxmlformats.org/drawingml/2006/main">
            <a:off x="609600" y="7239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43A"/>
                </a:solidFill>
                <a:latin typeface="Arial"/>
                <a:ea typeface="Arial"/>
                <a:cs typeface="Arial"/>
              </a:defRPr>
            </a:defPPr>
          </a:lstStyle>
          <a:p xmlns:a="http://schemas.openxmlformats.org/drawingml/2006/main">
            <a:pPr>
              <a:defRPr sz="2850" b="1">
                <a:solidFill>
                  <a:srgbClr val="14243A"/>
                </a:solidFill>
                <a:latin typeface="Arial"/>
                <a:ea typeface="Arial"/>
                <a:cs typeface="Arial"/>
              </a:defRPr>
            </a:pPr>
            <a:r>
              <a:rPr sz="2850" b="1">
                <a:solidFill>
                  <a:srgbClr val="14243A"/>
                </a:solidFill>
                <a:latin typeface="Arial"/>
                <a:ea typeface="Arial"/>
                <a:cs typeface="Arial"/>
              </a:rPr>
              <a:t>The founder can choose and correct the style</a:t>
            </a:r>
          </a:p>
        </p:txBody>
      </p:sp>
      <p:sp>
        <p:nvSpPr>
          <p:cNvPr id="3" name="">
            <a:extLst xmlns:a="http://schemas.openxmlformats.org/drawingml/2006/main">
              <a:ext uri="{FF2B5EF4-FFF2-40B4-BE49-F238E27FC236}">
                <a16:creationId xmlns:a16="http://schemas.microsoft.com/office/drawing/2014/main" id="{0F735413-4F2F-4E82-A7E3-8794CF0C97BA}"/>
              </a:ext>
            </a:extLst>
          </p:cNvPr>
          <p:cNvSpPr>
            <a:spLocks xmlns:a="http://schemas.openxmlformats.org/drawingml/2006/main" noGrp="1"/>
          </p:cNvSpPr>
          <p:nvPr/>
        </p:nvSpPr>
        <p:spPr>
          <a:xfrm xmlns:a="http://schemas.openxmlformats.org/drawingml/2006/main">
            <a:off x="6096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VIRTUAL EIR  /  WEEK 4 MILESTONE  /  OCT 16, 2026</a:t>
            </a:r>
          </a:p>
        </p:txBody>
      </p:sp>
      <p:sp>
        <p:nvSpPr>
          <p:cNvPr id="4" name="">
            <a:extLst xmlns:a="http://schemas.openxmlformats.org/drawingml/2006/main">
              <a:ext uri="{FF2B5EF4-FFF2-40B4-BE49-F238E27FC236}">
                <a16:creationId xmlns:a16="http://schemas.microsoft.com/office/drawing/2014/main" id="{2F452257-8062-40FC-9E18-1B38CA5079B8}"/>
              </a:ext>
            </a:extLst>
          </p:cNvPr>
          <p:cNvSpPr>
            <a:spLocks xmlns:a="http://schemas.openxmlformats.org/drawingml/2006/main" noGrp="1"/>
          </p:cNvSpPr>
          <p:nvPr/>
        </p:nvSpPr>
        <p:spPr>
          <a:xfrm xmlns:a="http://schemas.openxmlformats.org/drawingml/2006/main">
            <a:off x="10972800" y="64008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1A84204E-F24F-42F9-B80B-7C2DFDCFA129}"/>
              </a:ext>
            </a:extLst>
          </p:cNvPr>
          <p:cNvSpPr>
            <a:spLocks xmlns:a="http://schemas.openxmlformats.org/drawingml/2006/main" noGrp="1"/>
          </p:cNvSpPr>
          <p:nvPr/>
        </p:nvSpPr>
        <p:spPr>
          <a:xfrm xmlns:a="http://schemas.openxmlformats.org/drawingml/2006/main">
            <a:off x="647700" y="1952625"/>
            <a:ext cx="438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Optional background</a:t>
            </a:r>
          </a:p>
        </p:txBody>
      </p:sp>
      <p:sp>
        <p:nvSpPr>
          <p:cNvPr id="6" name="">
            <a:extLst xmlns:a="http://schemas.openxmlformats.org/drawingml/2006/main">
              <a:ext uri="{FF2B5EF4-FFF2-40B4-BE49-F238E27FC236}">
                <a16:creationId xmlns:a16="http://schemas.microsoft.com/office/drawing/2014/main" id="{A21BF2C1-5C24-479C-9E56-373505581461}"/>
              </a:ext>
            </a:extLst>
          </p:cNvPr>
          <p:cNvSpPr>
            <a:spLocks xmlns:a="http://schemas.openxmlformats.org/drawingml/2006/main" noGrp="1"/>
          </p:cNvSpPr>
          <p:nvPr/>
        </p:nvSpPr>
        <p:spPr>
          <a:xfrm xmlns:a="http://schemas.openxmlformats.org/drawingml/2006/main">
            <a:off x="647700" y="2809875"/>
            <a:ext cx="438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Explicit preference wins</a:t>
            </a:r>
          </a:p>
        </p:txBody>
      </p:sp>
      <p:sp>
        <p:nvSpPr>
          <p:cNvPr id="7" name="">
            <a:extLst xmlns:a="http://schemas.openxmlformats.org/drawingml/2006/main">
              <a:ext uri="{FF2B5EF4-FFF2-40B4-BE49-F238E27FC236}">
                <a16:creationId xmlns:a16="http://schemas.microsoft.com/office/drawing/2014/main" id="{6AB73381-D2F0-4B29-AF15-D5956EB5E7C2}"/>
              </a:ext>
            </a:extLst>
          </p:cNvPr>
          <p:cNvSpPr>
            <a:spLocks xmlns:a="http://schemas.openxmlformats.org/drawingml/2006/main" noGrp="1"/>
          </p:cNvSpPr>
          <p:nvPr/>
        </p:nvSpPr>
        <p:spPr>
          <a:xfrm xmlns:a="http://schemas.openxmlformats.org/drawingml/2006/main">
            <a:off x="647700" y="3667125"/>
            <a:ext cx="438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Confirmation before use</a:t>
            </a:r>
          </a:p>
        </p:txBody>
      </p:sp>
      <p:sp>
        <p:nvSpPr>
          <p:cNvPr id="8" name="">
            <a:extLst xmlns:a="http://schemas.openxmlformats.org/drawingml/2006/main">
              <a:ext uri="{FF2B5EF4-FFF2-40B4-BE49-F238E27FC236}">
                <a16:creationId xmlns:a16="http://schemas.microsoft.com/office/drawing/2014/main" id="{2A2637CE-7CCF-41ED-88B6-90763BB080E0}"/>
              </a:ext>
            </a:extLst>
          </p:cNvPr>
          <p:cNvSpPr>
            <a:spLocks xmlns:a="http://schemas.openxmlformats.org/drawingml/2006/main" noGrp="1"/>
          </p:cNvSpPr>
          <p:nvPr/>
        </p:nvSpPr>
        <p:spPr>
          <a:xfrm xmlns:a="http://schemas.openxmlformats.org/drawingml/2006/main">
            <a:off x="647700" y="4524375"/>
            <a:ext cx="4381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Facts and counts stay separate</a:t>
            </a:r>
          </a:p>
        </p:txBody>
      </p:sp>
      <p:pic>
        <p:nvPicPr>
          <p:cNvPr id="9" name="">
            <a:extLst xmlns:a="http://schemas.openxmlformats.org/drawingml/2006/main">
              <a:ext uri="{FF2B5EF4-FFF2-40B4-BE49-F238E27FC236}">
                <a16:creationId xmlns:a16="http://schemas.microsoft.com/office/drawing/2014/main" id="{5296C4D3-1B05-4CF2-914A-0D4642536729}"/>
              </a:ext>
            </a:extLst>
          </p:cNvPr>
          <p:cNvPicPr>
            <a:picLocks xmlns:a="http://schemas.openxmlformats.org/drawingml/2006/main" noChangeAspect="1"/>
          </p:cNvPicPr>
          <p:nvPr/>
        </p:nvPicPr>
        <p:blipFill>
          <a:blip xmlns:r="http://schemas.openxmlformats.org/officeDocument/2006/relationships" xmlns:a="http://schemas.openxmlformats.org/drawingml/2006/main" r:embed="R487102af1c164855"/>
          <a:stretch xmlns:a="http://schemas.openxmlformats.org/drawingml/2006/main"/>
        </p:blipFill>
        <p:spPr>
          <a:xfrm xmlns:a="http://schemas.openxmlformats.org/drawingml/2006/main">
            <a:off x="5429250" y="2383407"/>
            <a:ext cx="6048375" cy="2491236"/>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D900E9E-DD6A-4FA7-B9DE-54D3DEE680C7}"/>
              </a:ext>
            </a:extLst>
          </p:cNvPr>
          <p:cNvSpPr>
            <a:spLocks xmlns:a="http://schemas.openxmlformats.org/drawingml/2006/main" noGrp="1"/>
          </p:cNvSpPr>
          <p:nvPr/>
        </p:nvSpPr>
        <p:spPr>
          <a:xfrm xmlns:a="http://schemas.openxmlformats.org/drawingml/2006/main">
            <a:off x="5429250" y="5581650"/>
            <a:ext cx="6048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6657A"/>
                </a:solidFill>
                <a:latin typeface="Arial"/>
                <a:ea typeface="Arial"/>
                <a:cs typeface="Arial"/>
              </a:defRPr>
            </a:defPPr>
          </a:lstStyle>
          <a:p xmlns:a="http://schemas.openxmlformats.org/drawingml/2006/main">
            <a:pPr>
              <a:defRPr sz="1350" b="0">
                <a:solidFill>
                  <a:srgbClr val="56657A"/>
                </a:solidFill>
                <a:latin typeface="Arial"/>
                <a:ea typeface="Arial"/>
                <a:cs typeface="Arial"/>
              </a:defRPr>
            </a:pPr>
            <a:r>
              <a:rPr sz="1350" b="0">
                <a:solidFill>
                  <a:srgbClr val="56657A"/>
                </a:solidFill>
                <a:latin typeface="Arial"/>
                <a:ea typeface="Arial"/>
                <a:cs typeface="Arial"/>
              </a:rPr>
              <a:t>Captured from the running local app · fictional case</a:t>
            </a:r>
          </a:p>
        </p:txBody>
      </p:sp>
    </p:spTree>
    <p:extLst>
      <p:ext uri="{BB962C8B-B14F-4D97-AF65-F5344CB8AC3E}">
        <p14:creationId xmlns:p14="http://schemas.microsoft.com/office/powerpoint/2010/main" val="7846098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65F09F-6B2B-49A6-839A-A07D947953C1}"/>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5CE2"/>
                </a:solidFill>
                <a:latin typeface="Arial"/>
                <a:ea typeface="Arial"/>
                <a:cs typeface="Arial"/>
              </a:defRPr>
            </a:defPPr>
          </a:lstStyle>
          <a:p xmlns:a="http://schemas.openxmlformats.org/drawingml/2006/main">
            <a:pPr>
              <a:defRPr sz="1275" b="1">
                <a:solidFill>
                  <a:srgbClr val="245CE2"/>
                </a:solidFill>
                <a:latin typeface="Arial"/>
                <a:ea typeface="Arial"/>
                <a:cs typeface="Arial"/>
              </a:defRPr>
            </a:pPr>
            <a:r>
              <a:rPr sz="1275" b="1">
                <a:solidFill>
                  <a:srgbClr val="245CE2"/>
                </a:solidFill>
                <a:latin typeface="Arial"/>
                <a:ea typeface="Arial"/>
                <a:cs typeface="Arial"/>
              </a:rPr>
              <a:t>GOAL + PLAN</a:t>
            </a:r>
          </a:p>
        </p:txBody>
      </p:sp>
      <p:sp>
        <p:nvSpPr>
          <p:cNvPr id="2" name="">
            <a:extLst xmlns:a="http://schemas.openxmlformats.org/drawingml/2006/main">
              <a:ext uri="{FF2B5EF4-FFF2-40B4-BE49-F238E27FC236}">
                <a16:creationId xmlns:a16="http://schemas.microsoft.com/office/drawing/2014/main" id="{2BF42BF7-5104-45AB-AFD0-0B469AC8EDBB}"/>
              </a:ext>
            </a:extLst>
          </p:cNvPr>
          <p:cNvSpPr>
            <a:spLocks xmlns:a="http://schemas.openxmlformats.org/drawingml/2006/main" noGrp="1"/>
          </p:cNvSpPr>
          <p:nvPr/>
        </p:nvSpPr>
        <p:spPr>
          <a:xfrm xmlns:a="http://schemas.openxmlformats.org/drawingml/2006/main">
            <a:off x="609600" y="7239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43A"/>
                </a:solidFill>
                <a:latin typeface="Arial"/>
                <a:ea typeface="Arial"/>
                <a:cs typeface="Arial"/>
              </a:defRPr>
            </a:defPPr>
          </a:lstStyle>
          <a:p xmlns:a="http://schemas.openxmlformats.org/drawingml/2006/main">
            <a:pPr>
              <a:defRPr sz="2850" b="1">
                <a:solidFill>
                  <a:srgbClr val="14243A"/>
                </a:solidFill>
                <a:latin typeface="Arial"/>
                <a:ea typeface="Arial"/>
                <a:cs typeface="Arial"/>
              </a:defRPr>
            </a:pPr>
            <a:r>
              <a:rPr sz="2850" b="1">
                <a:solidFill>
                  <a:srgbClr val="14243A"/>
                </a:solidFill>
                <a:latin typeface="Arial"/>
                <a:ea typeface="Arial"/>
                <a:cs typeface="Arial"/>
              </a:rPr>
              <a:t>Plan first. Review before activation.</a:t>
            </a:r>
          </a:p>
        </p:txBody>
      </p:sp>
      <p:sp>
        <p:nvSpPr>
          <p:cNvPr id="3" name="">
            <a:extLst xmlns:a="http://schemas.openxmlformats.org/drawingml/2006/main">
              <a:ext uri="{FF2B5EF4-FFF2-40B4-BE49-F238E27FC236}">
                <a16:creationId xmlns:a16="http://schemas.microsoft.com/office/drawing/2014/main" id="{334EF496-D1C3-47A3-8DB4-666E8C44982C}"/>
              </a:ext>
            </a:extLst>
          </p:cNvPr>
          <p:cNvSpPr>
            <a:spLocks xmlns:a="http://schemas.openxmlformats.org/drawingml/2006/main" noGrp="1"/>
          </p:cNvSpPr>
          <p:nvPr/>
        </p:nvSpPr>
        <p:spPr>
          <a:xfrm xmlns:a="http://schemas.openxmlformats.org/drawingml/2006/main">
            <a:off x="6096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VIRTUAL EIR  /  WEEK 4 MILESTONE  /  OCT 16, 2026</a:t>
            </a:r>
          </a:p>
        </p:txBody>
      </p:sp>
      <p:sp>
        <p:nvSpPr>
          <p:cNvPr id="4" name="">
            <a:extLst xmlns:a="http://schemas.openxmlformats.org/drawingml/2006/main">
              <a:ext uri="{FF2B5EF4-FFF2-40B4-BE49-F238E27FC236}">
                <a16:creationId xmlns:a16="http://schemas.microsoft.com/office/drawing/2014/main" id="{B0526C8E-D615-4ABC-B890-22021A310656}"/>
              </a:ext>
            </a:extLst>
          </p:cNvPr>
          <p:cNvSpPr>
            <a:spLocks xmlns:a="http://schemas.openxmlformats.org/drawingml/2006/main" noGrp="1"/>
          </p:cNvSpPr>
          <p:nvPr/>
        </p:nvSpPr>
        <p:spPr>
          <a:xfrm xmlns:a="http://schemas.openxmlformats.org/drawingml/2006/main">
            <a:off x="10972800" y="64008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1285D8D-FB8F-441B-9C38-8C62634E21BC}"/>
              </a:ext>
            </a:extLst>
          </p:cNvPr>
          <p:cNvSpPr>
            <a:spLocks xmlns:a="http://schemas.openxmlformats.org/drawingml/2006/main" noGrp="1"/>
          </p:cNvSpPr>
          <p:nvPr/>
        </p:nvSpPr>
        <p:spPr>
          <a:xfrm xmlns:a="http://schemas.openxmlformats.org/drawingml/2006/main">
            <a:off x="647700" y="1971675"/>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1  Define outcome and capacity</a:t>
            </a:r>
          </a:p>
        </p:txBody>
      </p:sp>
      <p:sp>
        <p:nvSpPr>
          <p:cNvPr id="6" name="">
            <a:extLst xmlns:a="http://schemas.openxmlformats.org/drawingml/2006/main">
              <a:ext uri="{FF2B5EF4-FFF2-40B4-BE49-F238E27FC236}">
                <a16:creationId xmlns:a16="http://schemas.microsoft.com/office/drawing/2014/main" id="{61AD517E-FDFC-4F86-B96B-C60AC2B3810E}"/>
              </a:ext>
            </a:extLst>
          </p:cNvPr>
          <p:cNvSpPr>
            <a:spLocks xmlns:a="http://schemas.openxmlformats.org/drawingml/2006/main" noGrp="1"/>
          </p:cNvSpPr>
          <p:nvPr/>
        </p:nvSpPr>
        <p:spPr>
          <a:xfrm xmlns:a="http://schemas.openxmlformats.org/drawingml/2006/main">
            <a:off x="647700" y="2819400"/>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2  Generate an AI proposal</a:t>
            </a:r>
          </a:p>
        </p:txBody>
      </p:sp>
      <p:sp>
        <p:nvSpPr>
          <p:cNvPr id="7" name="">
            <a:extLst xmlns:a="http://schemas.openxmlformats.org/drawingml/2006/main">
              <a:ext uri="{FF2B5EF4-FFF2-40B4-BE49-F238E27FC236}">
                <a16:creationId xmlns:a16="http://schemas.microsoft.com/office/drawing/2014/main" id="{026A725E-0522-4202-909F-3B8D5C1C2F23}"/>
              </a:ext>
            </a:extLst>
          </p:cNvPr>
          <p:cNvSpPr>
            <a:spLocks xmlns:a="http://schemas.openxmlformats.org/drawingml/2006/main" noGrp="1"/>
          </p:cNvSpPr>
          <p:nvPr/>
        </p:nvSpPr>
        <p:spPr>
          <a:xfrm xmlns:a="http://schemas.openxmlformats.org/drawingml/2006/main">
            <a:off x="647700" y="3667125"/>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3  Edit and review the draft</a:t>
            </a:r>
          </a:p>
        </p:txBody>
      </p:sp>
      <p:sp>
        <p:nvSpPr>
          <p:cNvPr id="8" name="">
            <a:extLst xmlns:a="http://schemas.openxmlformats.org/drawingml/2006/main">
              <a:ext uri="{FF2B5EF4-FFF2-40B4-BE49-F238E27FC236}">
                <a16:creationId xmlns:a16="http://schemas.microsoft.com/office/drawing/2014/main" id="{FB4F8EEF-C34E-4BD2-8B82-D6D6920054FC}"/>
              </a:ext>
            </a:extLst>
          </p:cNvPr>
          <p:cNvSpPr>
            <a:spLocks xmlns:a="http://schemas.openxmlformats.org/drawingml/2006/main" noGrp="1"/>
          </p:cNvSpPr>
          <p:nvPr/>
        </p:nvSpPr>
        <p:spPr>
          <a:xfrm xmlns:a="http://schemas.openxmlformats.org/drawingml/2006/main">
            <a:off x="647700" y="4514850"/>
            <a:ext cx="4762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4  Approve explicitly</a:t>
            </a:r>
          </a:p>
        </p:txBody>
      </p:sp>
      <p:pic>
        <p:nvPicPr>
          <p:cNvPr id="9" name="">
            <a:extLst xmlns:a="http://schemas.openxmlformats.org/drawingml/2006/main">
              <a:ext uri="{FF2B5EF4-FFF2-40B4-BE49-F238E27FC236}">
                <a16:creationId xmlns:a16="http://schemas.microsoft.com/office/drawing/2014/main" id="{2893A7C4-8B4A-4C6E-97FA-6B78A9451C2D}"/>
              </a:ext>
            </a:extLst>
          </p:cNvPr>
          <p:cNvPicPr>
            <a:picLocks xmlns:a="http://schemas.openxmlformats.org/drawingml/2006/main" noChangeAspect="1"/>
          </p:cNvPicPr>
          <p:nvPr/>
        </p:nvPicPr>
        <p:blipFill>
          <a:blip xmlns:r="http://schemas.openxmlformats.org/officeDocument/2006/relationships" xmlns:a="http://schemas.openxmlformats.org/drawingml/2006/main" r:embed="R197cff0983b1489d"/>
          <a:stretch xmlns:a="http://schemas.openxmlformats.org/drawingml/2006/main"/>
        </p:blipFill>
        <p:spPr>
          <a:xfrm xmlns:a="http://schemas.openxmlformats.org/drawingml/2006/main">
            <a:off x="5810250" y="2221424"/>
            <a:ext cx="5715000" cy="3462903"/>
          </a:xfrm>
          <a:prstGeom xmlns:a="http://schemas.openxmlformats.org/drawingml/2006/main" prst="rect">
            <a:avLst/>
          </a:prstGeom>
        </p:spPr>
      </p:pic>
    </p:spTree>
    <p:extLst>
      <p:ext uri="{BB962C8B-B14F-4D97-AF65-F5344CB8AC3E}">
        <p14:creationId xmlns:p14="http://schemas.microsoft.com/office/powerpoint/2010/main" val="5335254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111B15-D652-44F3-B59D-4400488813A7}"/>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5CE2"/>
                </a:solidFill>
                <a:latin typeface="Arial"/>
                <a:ea typeface="Arial"/>
                <a:cs typeface="Arial"/>
              </a:defRPr>
            </a:defPPr>
          </a:lstStyle>
          <a:p xmlns:a="http://schemas.openxmlformats.org/drawingml/2006/main">
            <a:pPr>
              <a:defRPr sz="1275" b="1">
                <a:solidFill>
                  <a:srgbClr val="245CE2"/>
                </a:solidFill>
                <a:latin typeface="Arial"/>
                <a:ea typeface="Arial"/>
                <a:cs typeface="Arial"/>
              </a:defRPr>
            </a:pPr>
            <a:r>
              <a:rPr sz="1275" b="1">
                <a:solidFill>
                  <a:srgbClr val="245CE2"/>
                </a:solidFill>
                <a:latin typeface="Arial"/>
                <a:ea typeface="Arial"/>
                <a:cs typeface="Arial"/>
              </a:rPr>
              <a:t>PROGRESS WITH BOUNDARIES</a:t>
            </a:r>
          </a:p>
        </p:txBody>
      </p:sp>
      <p:sp>
        <p:nvSpPr>
          <p:cNvPr id="2" name="">
            <a:extLst xmlns:a="http://schemas.openxmlformats.org/drawingml/2006/main">
              <a:ext uri="{FF2B5EF4-FFF2-40B4-BE49-F238E27FC236}">
                <a16:creationId xmlns:a16="http://schemas.microsoft.com/office/drawing/2014/main" id="{DECDFF89-EAAD-46C6-A9B8-EFA4944C55D3}"/>
              </a:ext>
            </a:extLst>
          </p:cNvPr>
          <p:cNvSpPr>
            <a:spLocks xmlns:a="http://schemas.openxmlformats.org/drawingml/2006/main" noGrp="1"/>
          </p:cNvSpPr>
          <p:nvPr/>
        </p:nvSpPr>
        <p:spPr>
          <a:xfrm xmlns:a="http://schemas.openxmlformats.org/drawingml/2006/main">
            <a:off x="609600" y="7239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43A"/>
                </a:solidFill>
                <a:latin typeface="Arial"/>
                <a:ea typeface="Arial"/>
                <a:cs typeface="Arial"/>
              </a:defRPr>
            </a:defPPr>
          </a:lstStyle>
          <a:p xmlns:a="http://schemas.openxmlformats.org/drawingml/2006/main">
            <a:pPr>
              <a:defRPr sz="2850" b="1">
                <a:solidFill>
                  <a:srgbClr val="14243A"/>
                </a:solidFill>
                <a:latin typeface="Arial"/>
                <a:ea typeface="Arial"/>
                <a:cs typeface="Arial"/>
              </a:defRPr>
            </a:pPr>
            <a:r>
              <a:rPr sz="2850" b="1">
                <a:solidFill>
                  <a:srgbClr val="14243A"/>
                </a:solidFill>
                <a:latin typeface="Arial"/>
                <a:ea typeface="Arial"/>
                <a:cs typeface="Arial"/>
              </a:rPr>
              <a:t>40% of the task — not 40% business validation</a:t>
            </a:r>
          </a:p>
        </p:txBody>
      </p:sp>
      <p:sp>
        <p:nvSpPr>
          <p:cNvPr id="3" name="">
            <a:extLst xmlns:a="http://schemas.openxmlformats.org/drawingml/2006/main">
              <a:ext uri="{FF2B5EF4-FFF2-40B4-BE49-F238E27FC236}">
                <a16:creationId xmlns:a16="http://schemas.microsoft.com/office/drawing/2014/main" id="{A8247909-33C8-4DDE-A8CB-62C07472F70F}"/>
              </a:ext>
            </a:extLst>
          </p:cNvPr>
          <p:cNvSpPr>
            <a:spLocks xmlns:a="http://schemas.openxmlformats.org/drawingml/2006/main" noGrp="1"/>
          </p:cNvSpPr>
          <p:nvPr/>
        </p:nvSpPr>
        <p:spPr>
          <a:xfrm xmlns:a="http://schemas.openxmlformats.org/drawingml/2006/main">
            <a:off x="6096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VIRTUAL EIR  /  WEEK 4 MILESTONE  /  OCT 16, 2026</a:t>
            </a:r>
          </a:p>
        </p:txBody>
      </p:sp>
      <p:sp>
        <p:nvSpPr>
          <p:cNvPr id="4" name="">
            <a:extLst xmlns:a="http://schemas.openxmlformats.org/drawingml/2006/main">
              <a:ext uri="{FF2B5EF4-FFF2-40B4-BE49-F238E27FC236}">
                <a16:creationId xmlns:a16="http://schemas.microsoft.com/office/drawing/2014/main" id="{AE1E0DD4-433B-4B25-A19B-158286FBD44F}"/>
              </a:ext>
            </a:extLst>
          </p:cNvPr>
          <p:cNvSpPr>
            <a:spLocks xmlns:a="http://schemas.openxmlformats.org/drawingml/2006/main" noGrp="1"/>
          </p:cNvSpPr>
          <p:nvPr/>
        </p:nvSpPr>
        <p:spPr>
          <a:xfrm xmlns:a="http://schemas.openxmlformats.org/drawingml/2006/main">
            <a:off x="10972800" y="64008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A6A1C66-9B95-4730-92E6-52DF3877F489}"/>
              </a:ext>
            </a:extLst>
          </p:cNvPr>
          <p:cNvSpPr>
            <a:spLocks xmlns:a="http://schemas.openxmlformats.org/drawingml/2006/main" noGrp="1"/>
          </p:cNvSpPr>
          <p:nvPr/>
        </p:nvSpPr>
        <p:spPr>
          <a:xfrm xmlns:a="http://schemas.openxmlformats.org/drawingml/2006/main">
            <a:off x="647700" y="2028825"/>
            <a:ext cx="4381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245CE2"/>
                </a:solidFill>
                <a:latin typeface="Arial"/>
                <a:ea typeface="Arial"/>
                <a:cs typeface="Arial"/>
              </a:defRPr>
            </a:defPPr>
          </a:lstStyle>
          <a:p xmlns:a="http://schemas.openxmlformats.org/drawingml/2006/main">
            <a:pPr>
              <a:defRPr sz="2925" b="1">
                <a:solidFill>
                  <a:srgbClr val="245CE2"/>
                </a:solidFill>
                <a:latin typeface="Arial"/>
                <a:ea typeface="Arial"/>
                <a:cs typeface="Arial"/>
              </a:defRPr>
            </a:pPr>
            <a:r>
              <a:rPr sz="2925" b="1">
                <a:solidFill>
                  <a:srgbClr val="245CE2"/>
                </a:solidFill>
                <a:latin typeface="Arial"/>
                <a:ea typeface="Arial"/>
                <a:cs typeface="Arial"/>
              </a:rPr>
              <a:t>5 planned</a:t>
            </a:r>
          </a:p>
          <a:p xmlns:a="http://schemas.openxmlformats.org/drawingml/2006/main">
            <a:pPr>
              <a:defRPr sz="2925" b="1">
                <a:solidFill>
                  <a:srgbClr val="245CE2"/>
                </a:solidFill>
                <a:latin typeface="Arial"/>
                <a:ea typeface="Arial"/>
                <a:cs typeface="Arial"/>
              </a:defRPr>
            </a:pPr>
            <a:r>
              <a:rPr sz="2925" b="1">
                <a:solidFill>
                  <a:srgbClr val="245CE2"/>
                </a:solidFill>
                <a:latin typeface="Arial"/>
                <a:ea typeface="Arial"/>
                <a:cs typeface="Arial"/>
              </a:rPr>
              <a:t>2 reported complete</a:t>
            </a:r>
          </a:p>
          <a:p xmlns:a="http://schemas.openxmlformats.org/drawingml/2006/main">
            <a:pPr>
              <a:defRPr sz="2925" b="1">
                <a:solidFill>
                  <a:srgbClr val="245CE2"/>
                </a:solidFill>
                <a:latin typeface="Arial"/>
                <a:ea typeface="Arial"/>
                <a:cs typeface="Arial"/>
              </a:defRPr>
            </a:pPr>
            <a:r>
              <a:rPr sz="2925" b="1">
                <a:solidFill>
                  <a:srgbClr val="245CE2"/>
                </a:solidFill>
                <a:latin typeface="Arial"/>
                <a:ea typeface="Arial"/>
                <a:cs typeface="Arial"/>
              </a:rPr>
              <a:t>3 remaining</a:t>
            </a:r>
          </a:p>
        </p:txBody>
      </p:sp>
      <p:sp>
        <p:nvSpPr>
          <p:cNvPr id="6" name="">
            <a:extLst xmlns:a="http://schemas.openxmlformats.org/drawingml/2006/main">
              <a:ext uri="{FF2B5EF4-FFF2-40B4-BE49-F238E27FC236}">
                <a16:creationId xmlns:a16="http://schemas.microsoft.com/office/drawing/2014/main" id="{58FB3536-17A7-4CF1-AD16-BCB6597EBC16}"/>
              </a:ext>
            </a:extLst>
          </p:cNvPr>
          <p:cNvSpPr>
            <a:spLocks xmlns:a="http://schemas.openxmlformats.org/drawingml/2006/main" noGrp="1"/>
          </p:cNvSpPr>
          <p:nvPr/>
        </p:nvSpPr>
        <p:spPr>
          <a:xfrm xmlns:a="http://schemas.openxmlformats.org/drawingml/2006/main">
            <a:off x="647700" y="4371975"/>
            <a:ext cx="4476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43A"/>
                </a:solidFill>
                <a:latin typeface="Arial"/>
                <a:ea typeface="Arial"/>
                <a:cs typeface="Arial"/>
              </a:defRPr>
            </a:defPPr>
          </a:lstStyle>
          <a:p xmlns:a="http://schemas.openxmlformats.org/drawingml/2006/main">
            <a:pPr>
              <a:defRPr sz="2100" b="0">
                <a:solidFill>
                  <a:srgbClr val="14243A"/>
                </a:solidFill>
                <a:latin typeface="Arial"/>
                <a:ea typeface="Arial"/>
                <a:cs typeface="Arial"/>
              </a:defRPr>
            </a:pPr>
            <a:r>
              <a:rPr sz="2100" b="0">
                <a:solidFill>
                  <a:srgbClr val="14243A"/>
                </a:solidFill>
                <a:latin typeface="Arial"/>
                <a:ea typeface="Arial"/>
                <a:cs typeface="Arial"/>
              </a:rPr>
              <a:t>Activity is observable.</a:t>
            </a:r>
          </a:p>
          <a:p xmlns:a="http://schemas.openxmlformats.org/drawingml/2006/main">
            <a:pPr>
              <a:defRPr sz="2100" b="0">
                <a:solidFill>
                  <a:srgbClr val="14243A"/>
                </a:solidFill>
                <a:latin typeface="Arial"/>
                <a:ea typeface="Arial"/>
                <a:cs typeface="Arial"/>
              </a:defRPr>
            </a:pPr>
            <a:r>
              <a:rPr sz="2100" b="0">
                <a:solidFill>
                  <a:srgbClr val="14243A"/>
                </a:solidFill>
                <a:latin typeface="Arial"/>
                <a:ea typeface="Arial"/>
                <a:cs typeface="Arial"/>
              </a:rPr>
              <a:t>Market demand is still unproven.</a:t>
            </a:r>
          </a:p>
        </p:txBody>
      </p:sp>
      <p:pic>
        <p:nvPicPr>
          <p:cNvPr id="7" name="">
            <a:extLst xmlns:a="http://schemas.openxmlformats.org/drawingml/2006/main">
              <a:ext uri="{FF2B5EF4-FFF2-40B4-BE49-F238E27FC236}">
                <a16:creationId xmlns:a16="http://schemas.microsoft.com/office/drawing/2014/main" id="{CB6C72AD-A5A0-4091-A169-F2CE1AA023D9}"/>
              </a:ext>
            </a:extLst>
          </p:cNvPr>
          <p:cNvPicPr>
            <a:picLocks xmlns:a="http://schemas.openxmlformats.org/drawingml/2006/main" noChangeAspect="1"/>
          </p:cNvPicPr>
          <p:nvPr/>
        </p:nvPicPr>
        <p:blipFill>
          <a:blip xmlns:r="http://schemas.openxmlformats.org/officeDocument/2006/relationships" xmlns:a="http://schemas.openxmlformats.org/drawingml/2006/main" r:embed="R146c0c5fd58d4b5b"/>
          <a:stretch xmlns:a="http://schemas.openxmlformats.org/drawingml/2006/main"/>
        </p:blipFill>
        <p:spPr>
          <a:xfrm xmlns:a="http://schemas.openxmlformats.org/drawingml/2006/main">
            <a:off x="5429250" y="1925456"/>
            <a:ext cx="6048375" cy="3835763"/>
          </a:xfrm>
          <a:prstGeom xmlns:a="http://schemas.openxmlformats.org/drawingml/2006/main" prst="rect">
            <a:avLst/>
          </a:prstGeom>
        </p:spPr>
      </p:pic>
    </p:spTree>
    <p:extLst>
      <p:ext uri="{BB962C8B-B14F-4D97-AF65-F5344CB8AC3E}">
        <p14:creationId xmlns:p14="http://schemas.microsoft.com/office/powerpoint/2010/main" val="9565959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CDBBE1-8EF4-4D37-81A9-FA888BC0193D}"/>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5CE2"/>
                </a:solidFill>
                <a:latin typeface="Arial"/>
                <a:ea typeface="Arial"/>
                <a:cs typeface="Arial"/>
              </a:defRPr>
            </a:defPPr>
          </a:lstStyle>
          <a:p xmlns:a="http://schemas.openxmlformats.org/drawingml/2006/main">
            <a:pPr>
              <a:defRPr sz="1275" b="1">
                <a:solidFill>
                  <a:srgbClr val="245CE2"/>
                </a:solidFill>
                <a:latin typeface="Arial"/>
                <a:ea typeface="Arial"/>
                <a:cs typeface="Arial"/>
              </a:defRPr>
            </a:pPr>
            <a:r>
              <a:rPr sz="1275" b="1">
                <a:solidFill>
                  <a:srgbClr val="245CE2"/>
                </a:solidFill>
                <a:latin typeface="Arial"/>
                <a:ea typeface="Arial"/>
                <a:cs typeface="Arial"/>
              </a:rPr>
              <a:t>CONTINUITY AND VERSIONING</a:t>
            </a:r>
          </a:p>
        </p:txBody>
      </p:sp>
      <p:sp>
        <p:nvSpPr>
          <p:cNvPr id="2" name="">
            <a:extLst xmlns:a="http://schemas.openxmlformats.org/drawingml/2006/main">
              <a:ext uri="{FF2B5EF4-FFF2-40B4-BE49-F238E27FC236}">
                <a16:creationId xmlns:a16="http://schemas.microsoft.com/office/drawing/2014/main" id="{CBFC8E23-B620-473C-BFDE-A10E903984F8}"/>
              </a:ext>
            </a:extLst>
          </p:cNvPr>
          <p:cNvSpPr>
            <a:spLocks xmlns:a="http://schemas.openxmlformats.org/drawingml/2006/main" noGrp="1"/>
          </p:cNvSpPr>
          <p:nvPr/>
        </p:nvSpPr>
        <p:spPr>
          <a:xfrm xmlns:a="http://schemas.openxmlformats.org/drawingml/2006/main">
            <a:off x="609600" y="7239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43A"/>
                </a:solidFill>
                <a:latin typeface="Arial"/>
                <a:ea typeface="Arial"/>
                <a:cs typeface="Arial"/>
              </a:defRPr>
            </a:defPPr>
          </a:lstStyle>
          <a:p xmlns:a="http://schemas.openxmlformats.org/drawingml/2006/main">
            <a:pPr>
              <a:defRPr sz="2850" b="1">
                <a:solidFill>
                  <a:srgbClr val="14243A"/>
                </a:solidFill>
                <a:latin typeface="Arial"/>
                <a:ea typeface="Arial"/>
                <a:cs typeface="Arial"/>
              </a:defRPr>
            </a:pPr>
            <a:r>
              <a:rPr sz="2850" b="1">
                <a:solidFill>
                  <a:srgbClr val="14243A"/>
                </a:solidFill>
                <a:latin typeface="Arial"/>
                <a:ea typeface="Arial"/>
                <a:cs typeface="Arial"/>
              </a:rPr>
              <a:t>A new conversation remembers the approved plan</a:t>
            </a:r>
          </a:p>
        </p:txBody>
      </p:sp>
      <p:sp>
        <p:nvSpPr>
          <p:cNvPr id="3" name="">
            <a:extLst xmlns:a="http://schemas.openxmlformats.org/drawingml/2006/main">
              <a:ext uri="{FF2B5EF4-FFF2-40B4-BE49-F238E27FC236}">
                <a16:creationId xmlns:a16="http://schemas.microsoft.com/office/drawing/2014/main" id="{84696DAF-6BAC-472B-AA98-B71B01CBF387}"/>
              </a:ext>
            </a:extLst>
          </p:cNvPr>
          <p:cNvSpPr>
            <a:spLocks xmlns:a="http://schemas.openxmlformats.org/drawingml/2006/main" noGrp="1"/>
          </p:cNvSpPr>
          <p:nvPr/>
        </p:nvSpPr>
        <p:spPr>
          <a:xfrm xmlns:a="http://schemas.openxmlformats.org/drawingml/2006/main">
            <a:off x="6096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VIRTUAL EIR  /  WEEK 4 MILESTONE  /  OCT 16, 2026</a:t>
            </a:r>
          </a:p>
        </p:txBody>
      </p:sp>
      <p:sp>
        <p:nvSpPr>
          <p:cNvPr id="4" name="">
            <a:extLst xmlns:a="http://schemas.openxmlformats.org/drawingml/2006/main">
              <a:ext uri="{FF2B5EF4-FFF2-40B4-BE49-F238E27FC236}">
                <a16:creationId xmlns:a16="http://schemas.microsoft.com/office/drawing/2014/main" id="{9A4FA466-9E1A-4AF8-8B6C-53D7113F4814}"/>
              </a:ext>
            </a:extLst>
          </p:cNvPr>
          <p:cNvSpPr>
            <a:spLocks xmlns:a="http://schemas.openxmlformats.org/drawingml/2006/main" noGrp="1"/>
          </p:cNvSpPr>
          <p:nvPr/>
        </p:nvSpPr>
        <p:spPr>
          <a:xfrm xmlns:a="http://schemas.openxmlformats.org/drawingml/2006/main">
            <a:off x="10972800" y="64008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859DE43F-0C19-4797-812B-F1513EDFEBDA}"/>
              </a:ext>
            </a:extLst>
          </p:cNvPr>
          <p:cNvSpPr>
            <a:spLocks xmlns:a="http://schemas.openxmlformats.org/drawingml/2006/main" noGrp="1"/>
          </p:cNvSpPr>
          <p:nvPr/>
        </p:nvSpPr>
        <p:spPr>
          <a:xfrm xmlns:a="http://schemas.openxmlformats.org/drawingml/2006/main">
            <a:off x="647700" y="1952625"/>
            <a:ext cx="6572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245CE2"/>
                </a:solidFill>
                <a:latin typeface="Arial"/>
                <a:ea typeface="Arial"/>
                <a:cs typeface="Arial"/>
              </a:defRPr>
            </a:defPPr>
          </a:lstStyle>
          <a:p xmlns:a="http://schemas.openxmlformats.org/drawingml/2006/main">
            <a:pPr>
              <a:defRPr sz="2700" b="1">
                <a:solidFill>
                  <a:srgbClr val="245CE2"/>
                </a:solidFill>
                <a:latin typeface="Arial"/>
                <a:ea typeface="Arial"/>
                <a:cs typeface="Arial"/>
              </a:defRPr>
            </a:pPr>
            <a:r>
              <a:rPr sz="2700" b="1">
                <a:solidFill>
                  <a:srgbClr val="245CE2"/>
                </a:solidFill>
                <a:latin typeface="Arial"/>
                <a:ea typeface="Arial"/>
                <a:cs typeface="Arial"/>
              </a:rPr>
              <a:t>“Planned: 5 interviews</a:t>
            </a:r>
          </a:p>
          <a:p xmlns:a="http://schemas.openxmlformats.org/drawingml/2006/main">
            <a:pPr>
              <a:defRPr sz="2700" b="1">
                <a:solidFill>
                  <a:srgbClr val="245CE2"/>
                </a:solidFill>
                <a:latin typeface="Arial"/>
                <a:ea typeface="Arial"/>
                <a:cs typeface="Arial"/>
              </a:defRPr>
            </a:pPr>
            <a:r>
              <a:rPr sz="2700" b="1">
                <a:solidFill>
                  <a:srgbClr val="245CE2"/>
                </a:solidFill>
                <a:latin typeface="Arial"/>
                <a:ea typeface="Arial"/>
                <a:cs typeface="Arial"/>
              </a:rPr>
              <a:t>Completed: 2 interviews</a:t>
            </a:r>
          </a:p>
          <a:p xmlns:a="http://schemas.openxmlformats.org/drawingml/2006/main">
            <a:pPr>
              <a:defRPr sz="2700" b="1">
                <a:solidFill>
                  <a:srgbClr val="245CE2"/>
                </a:solidFill>
                <a:latin typeface="Arial"/>
                <a:ea typeface="Arial"/>
                <a:cs typeface="Arial"/>
              </a:defRPr>
            </a:pPr>
            <a:r>
              <a:rPr sz="2700" b="1">
                <a:solidFill>
                  <a:srgbClr val="245CE2"/>
                </a:solidFill>
                <a:latin typeface="Arial"/>
                <a:ea typeface="Arial"/>
                <a:cs typeface="Arial"/>
              </a:rPr>
              <a:t>Remaining: 3 interviews”</a:t>
            </a:r>
          </a:p>
        </p:txBody>
      </p:sp>
      <p:sp>
        <p:nvSpPr>
          <p:cNvPr id="6" name="">
            <a:extLst xmlns:a="http://schemas.openxmlformats.org/drawingml/2006/main">
              <a:ext uri="{FF2B5EF4-FFF2-40B4-BE49-F238E27FC236}">
                <a16:creationId xmlns:a16="http://schemas.microsoft.com/office/drawing/2014/main" id="{E09798B7-33FB-4A70-881E-1F87ED74A2A4}"/>
              </a:ext>
            </a:extLst>
          </p:cNvPr>
          <p:cNvSpPr>
            <a:spLocks xmlns:a="http://schemas.openxmlformats.org/drawingml/2006/main" noGrp="1"/>
          </p:cNvSpPr>
          <p:nvPr/>
        </p:nvSpPr>
        <p:spPr>
          <a:xfrm xmlns:a="http://schemas.openxmlformats.org/drawingml/2006/main">
            <a:off x="647700" y="390525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6657A"/>
                </a:solidFill>
                <a:latin typeface="Arial"/>
                <a:ea typeface="Arial"/>
                <a:cs typeface="Arial"/>
              </a:defRPr>
            </a:defPPr>
          </a:lstStyle>
          <a:p xmlns:a="http://schemas.openxmlformats.org/drawingml/2006/main">
            <a:pPr>
              <a:defRPr sz="1425" b="0">
                <a:solidFill>
                  <a:srgbClr val="56657A"/>
                </a:solidFill>
                <a:latin typeface="Arial"/>
                <a:ea typeface="Arial"/>
                <a:cs typeface="Arial"/>
              </a:defRPr>
            </a:pPr>
            <a:r>
              <a:rPr sz="1425" b="0">
                <a:solidFill>
                  <a:srgbClr val="56657A"/>
                </a:solidFill>
                <a:latin typeface="Arial"/>
                <a:ea typeface="Arial"/>
                <a:cs typeface="Arial"/>
              </a:rPr>
              <a:t>Real local-model follow-up · fictional founder report</a:t>
            </a:r>
          </a:p>
        </p:txBody>
      </p:sp>
      <p:sp>
        <p:nvSpPr>
          <p:cNvPr id="7" name="">
            <a:extLst xmlns:a="http://schemas.openxmlformats.org/drawingml/2006/main">
              <a:ext uri="{FF2B5EF4-FFF2-40B4-BE49-F238E27FC236}">
                <a16:creationId xmlns:a16="http://schemas.microsoft.com/office/drawing/2014/main" id="{50181232-427A-4CC9-9C7B-35251DC0C7B4}"/>
              </a:ext>
            </a:extLst>
          </p:cNvPr>
          <p:cNvSpPr>
            <a:spLocks xmlns:a="http://schemas.openxmlformats.org/drawingml/2006/main" noGrp="1"/>
          </p:cNvSpPr>
          <p:nvPr/>
        </p:nvSpPr>
        <p:spPr>
          <a:xfrm xmlns:a="http://schemas.openxmlformats.org/drawingml/2006/main">
            <a:off x="8020050" y="2047875"/>
            <a:ext cx="3333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243A"/>
                </a:solidFill>
                <a:latin typeface="Arial"/>
                <a:ea typeface="Arial"/>
                <a:cs typeface="Arial"/>
              </a:defRPr>
            </a:defPPr>
          </a:lstStyle>
          <a:p xmlns:a="http://schemas.openxmlformats.org/drawingml/2006/main">
            <a:pPr>
              <a:defRPr sz="2175" b="0">
                <a:solidFill>
                  <a:srgbClr val="14243A"/>
                </a:solidFill>
                <a:latin typeface="Arial"/>
                <a:ea typeface="Arial"/>
                <a:cs typeface="Arial"/>
              </a:defRPr>
            </a:pPr>
            <a:r>
              <a:rPr sz="2175" b="0">
                <a:solidFill>
                  <a:srgbClr val="14243A"/>
                </a:solidFill>
                <a:latin typeface="Arial"/>
                <a:ea typeface="Arial"/>
                <a:cs typeface="Arial"/>
              </a:rPr>
              <a:t>v1 is retained.</a:t>
            </a:r>
          </a:p>
          <a:p xmlns:a="http://schemas.openxmlformats.org/drawingml/2006/main">
            <a:pPr>
              <a:defRPr sz="2175" b="0">
                <a:solidFill>
                  <a:srgbClr val="14243A"/>
                </a:solidFill>
                <a:latin typeface="Arial"/>
                <a:ea typeface="Arial"/>
                <a:cs typeface="Arial"/>
              </a:defRPr>
            </a:pPr>
            <a:r>
              <a:rPr sz="2175" b="0">
                <a:solidFill>
                  <a:srgbClr val="14243A"/>
                </a:solidFill>
                <a:latin typeface="Arial"/>
                <a:ea typeface="Arial"/>
                <a:cs typeface="Arial"/>
              </a:rPr>
              <a:t>v2 is proposed.</a:t>
            </a:r>
          </a:p>
          <a:p xmlns:a="http://schemas.openxmlformats.org/drawingml/2006/main">
            <a:pPr>
              <a:defRPr sz="2175" b="0">
                <a:solidFill>
                  <a:srgbClr val="14243A"/>
                </a:solidFill>
                <a:latin typeface="Arial"/>
                <a:ea typeface="Arial"/>
                <a:cs typeface="Arial"/>
              </a:defRPr>
            </a:pPr>
            <a:r>
              <a:rPr sz="2175" b="0">
                <a:solidFill>
                  <a:srgbClr val="14243A"/>
                </a:solidFill>
                <a:latin typeface="Arial"/>
                <a:ea typeface="Arial"/>
                <a:cs typeface="Arial"/>
              </a:rPr>
              <a:t>Approval activates v2.</a:t>
            </a:r>
          </a:p>
        </p:txBody>
      </p:sp>
      <p:sp>
        <p:nvSpPr>
          <p:cNvPr id="8" name="">
            <a:extLst xmlns:a="http://schemas.openxmlformats.org/drawingml/2006/main">
              <a:ext uri="{FF2B5EF4-FFF2-40B4-BE49-F238E27FC236}">
                <a16:creationId xmlns:a16="http://schemas.microsoft.com/office/drawing/2014/main" id="{04B2702E-1D7B-42AD-ABCA-726B8DD1B7EF}"/>
              </a:ext>
            </a:extLst>
          </p:cNvPr>
          <p:cNvSpPr>
            <a:spLocks xmlns:a="http://schemas.openxmlformats.org/drawingml/2006/main" noGrp="1"/>
          </p:cNvSpPr>
          <p:nvPr/>
        </p:nvSpPr>
        <p:spPr>
          <a:xfrm xmlns:a="http://schemas.openxmlformats.org/drawingml/2006/main">
            <a:off x="647700" y="5076825"/>
            <a:ext cx="10715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43A"/>
                </a:solidFill>
                <a:latin typeface="Arial"/>
                <a:ea typeface="Arial"/>
                <a:cs typeface="Arial"/>
              </a:defRPr>
            </a:defPPr>
          </a:lstStyle>
          <a:p xmlns:a="http://schemas.openxmlformats.org/drawingml/2006/main">
            <a:pPr>
              <a:defRPr sz="2100" b="0">
                <a:solidFill>
                  <a:srgbClr val="14243A"/>
                </a:solidFill>
                <a:latin typeface="Arial"/>
                <a:ea typeface="Arial"/>
                <a:cs typeface="Arial"/>
              </a:defRPr>
            </a:pPr>
            <a:r>
              <a:rPr sz="2100" b="0">
                <a:solidFill>
                  <a:srgbClr val="14243A"/>
                </a:solidFill>
                <a:latin typeface="Arial"/>
                <a:ea typeface="Arial"/>
                <a:cs typeface="Arial"/>
              </a:rPr>
              <a:t>The two-person sample is not generalized to market demand.</a:t>
            </a:r>
          </a:p>
        </p:txBody>
      </p:sp>
    </p:spTree>
    <p:extLst>
      <p:ext uri="{BB962C8B-B14F-4D97-AF65-F5344CB8AC3E}">
        <p14:creationId xmlns:p14="http://schemas.microsoft.com/office/powerpoint/2010/main" val="9271711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1AC3E43-D85C-463C-9F6D-B2F7FD4034BF}"/>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5CE2"/>
                </a:solidFill>
                <a:latin typeface="Arial"/>
                <a:ea typeface="Arial"/>
                <a:cs typeface="Arial"/>
              </a:defRPr>
            </a:defPPr>
          </a:lstStyle>
          <a:p xmlns:a="http://schemas.openxmlformats.org/drawingml/2006/main">
            <a:pPr>
              <a:defRPr sz="1275" b="1">
                <a:solidFill>
                  <a:srgbClr val="245CE2"/>
                </a:solidFill>
                <a:latin typeface="Arial"/>
                <a:ea typeface="Arial"/>
                <a:cs typeface="Arial"/>
              </a:defRPr>
            </a:pPr>
            <a:r>
              <a:rPr sz="1275" b="1">
                <a:solidFill>
                  <a:srgbClr val="245CE2"/>
                </a:solidFill>
                <a:latin typeface="Arial"/>
                <a:ea typeface="Arial"/>
                <a:cs typeface="Arial"/>
              </a:rPr>
              <a:t>EVIDENCE AND LIMITATIONS</a:t>
            </a:r>
          </a:p>
        </p:txBody>
      </p:sp>
      <p:sp>
        <p:nvSpPr>
          <p:cNvPr id="2" name="">
            <a:extLst xmlns:a="http://schemas.openxmlformats.org/drawingml/2006/main">
              <a:ext uri="{FF2B5EF4-FFF2-40B4-BE49-F238E27FC236}">
                <a16:creationId xmlns:a16="http://schemas.microsoft.com/office/drawing/2014/main" id="{61CA548F-B3E0-4F03-987E-20C5075BAE11}"/>
              </a:ext>
            </a:extLst>
          </p:cNvPr>
          <p:cNvSpPr>
            <a:spLocks xmlns:a="http://schemas.openxmlformats.org/drawingml/2006/main" noGrp="1"/>
          </p:cNvSpPr>
          <p:nvPr/>
        </p:nvSpPr>
        <p:spPr>
          <a:xfrm xmlns:a="http://schemas.openxmlformats.org/drawingml/2006/main">
            <a:off x="609600" y="7239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43A"/>
                </a:solidFill>
                <a:latin typeface="Arial"/>
                <a:ea typeface="Arial"/>
                <a:cs typeface="Arial"/>
              </a:defRPr>
            </a:defPPr>
          </a:lstStyle>
          <a:p xmlns:a="http://schemas.openxmlformats.org/drawingml/2006/main">
            <a:pPr>
              <a:defRPr sz="2850" b="1">
                <a:solidFill>
                  <a:srgbClr val="14243A"/>
                </a:solidFill>
                <a:latin typeface="Arial"/>
                <a:ea typeface="Arial"/>
                <a:cs typeface="Arial"/>
              </a:defRPr>
            </a:pPr>
            <a:r>
              <a:rPr sz="2850" b="1">
                <a:solidFill>
                  <a:srgbClr val="14243A"/>
                </a:solidFill>
                <a:latin typeface="Arial"/>
                <a:ea typeface="Arial"/>
                <a:cs typeface="Arial"/>
              </a:rPr>
              <a:t>Verified behavior, with failures kept visible</a:t>
            </a:r>
          </a:p>
        </p:txBody>
      </p:sp>
      <p:sp>
        <p:nvSpPr>
          <p:cNvPr id="3" name="">
            <a:extLst xmlns:a="http://schemas.openxmlformats.org/drawingml/2006/main">
              <a:ext uri="{FF2B5EF4-FFF2-40B4-BE49-F238E27FC236}">
                <a16:creationId xmlns:a16="http://schemas.microsoft.com/office/drawing/2014/main" id="{1AE660CD-C12C-4008-9CAB-41543DFC128E}"/>
              </a:ext>
            </a:extLst>
          </p:cNvPr>
          <p:cNvSpPr>
            <a:spLocks xmlns:a="http://schemas.openxmlformats.org/drawingml/2006/main" noGrp="1"/>
          </p:cNvSpPr>
          <p:nvPr/>
        </p:nvSpPr>
        <p:spPr>
          <a:xfrm xmlns:a="http://schemas.openxmlformats.org/drawingml/2006/main">
            <a:off x="6096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VIRTUAL EIR  /  WEEK 4 MILESTONE  /  OCT 16, 2026</a:t>
            </a:r>
          </a:p>
        </p:txBody>
      </p:sp>
      <p:sp>
        <p:nvSpPr>
          <p:cNvPr id="4" name="">
            <a:extLst xmlns:a="http://schemas.openxmlformats.org/drawingml/2006/main">
              <a:ext uri="{FF2B5EF4-FFF2-40B4-BE49-F238E27FC236}">
                <a16:creationId xmlns:a16="http://schemas.microsoft.com/office/drawing/2014/main" id="{BD3BBB1A-3E59-4394-BEB2-977BD48E7790}"/>
              </a:ext>
            </a:extLst>
          </p:cNvPr>
          <p:cNvSpPr>
            <a:spLocks xmlns:a="http://schemas.openxmlformats.org/drawingml/2006/main" noGrp="1"/>
          </p:cNvSpPr>
          <p:nvPr/>
        </p:nvSpPr>
        <p:spPr>
          <a:xfrm xmlns:a="http://schemas.openxmlformats.org/drawingml/2006/main">
            <a:off x="10972800" y="64008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4698854-FB6B-4D2C-AC50-06C9C2DBEB48}"/>
              </a:ext>
            </a:extLst>
          </p:cNvPr>
          <p:cNvSpPr>
            <a:spLocks xmlns:a="http://schemas.openxmlformats.org/drawingml/2006/main" noGrp="1"/>
          </p:cNvSpPr>
          <p:nvPr/>
        </p:nvSpPr>
        <p:spPr>
          <a:xfrm xmlns:a="http://schemas.openxmlformats.org/drawingml/2006/main">
            <a:off x="647700" y="1924050"/>
            <a:ext cx="1047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79 deterministic tests passed</a:t>
            </a:r>
          </a:p>
        </p:txBody>
      </p:sp>
      <p:sp>
        <p:nvSpPr>
          <p:cNvPr id="6" name="">
            <a:extLst xmlns:a="http://schemas.openxmlformats.org/drawingml/2006/main">
              <a:ext uri="{FF2B5EF4-FFF2-40B4-BE49-F238E27FC236}">
                <a16:creationId xmlns:a16="http://schemas.microsoft.com/office/drawing/2014/main" id="{54AA2738-1209-4223-A3AC-8D7F070B98B5}"/>
              </a:ext>
            </a:extLst>
          </p:cNvPr>
          <p:cNvSpPr>
            <a:spLocks xmlns:a="http://schemas.openxmlformats.org/drawingml/2006/main" noGrp="1"/>
          </p:cNvSpPr>
          <p:nvPr/>
        </p:nvSpPr>
        <p:spPr>
          <a:xfrm xmlns:a="http://schemas.openxmlformats.org/drawingml/2006/main">
            <a:off x="647700" y="2790825"/>
            <a:ext cx="1047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10 real-workflow + 21 legacy UI checks</a:t>
            </a:r>
          </a:p>
        </p:txBody>
      </p:sp>
      <p:sp>
        <p:nvSpPr>
          <p:cNvPr id="7" name="">
            <a:extLst xmlns:a="http://schemas.openxmlformats.org/drawingml/2006/main">
              <a:ext uri="{FF2B5EF4-FFF2-40B4-BE49-F238E27FC236}">
                <a16:creationId xmlns:a16="http://schemas.microsoft.com/office/drawing/2014/main" id="{D156E039-B530-4CC9-A6DC-D9438DEC8B4C}"/>
              </a:ext>
            </a:extLst>
          </p:cNvPr>
          <p:cNvSpPr>
            <a:spLocks xmlns:a="http://schemas.openxmlformats.org/drawingml/2006/main" noGrp="1"/>
          </p:cNvSpPr>
          <p:nvPr/>
        </p:nvSpPr>
        <p:spPr>
          <a:xfrm xmlns:a="http://schemas.openxmlformats.org/drawingml/2006/main">
            <a:off x="647700" y="3657600"/>
            <a:ext cx="1047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8 final Persona responses reviewed in English</a:t>
            </a:r>
          </a:p>
        </p:txBody>
      </p:sp>
      <p:sp>
        <p:nvSpPr>
          <p:cNvPr id="8" name="">
            <a:extLst xmlns:a="http://schemas.openxmlformats.org/drawingml/2006/main">
              <a:ext uri="{FF2B5EF4-FFF2-40B4-BE49-F238E27FC236}">
                <a16:creationId xmlns:a16="http://schemas.microsoft.com/office/drawing/2014/main" id="{7FEFFF44-C31A-4FA9-B846-875310024CE2}"/>
              </a:ext>
            </a:extLst>
          </p:cNvPr>
          <p:cNvSpPr>
            <a:spLocks xmlns:a="http://schemas.openxmlformats.org/drawingml/2006/main" noGrp="1"/>
          </p:cNvSpPr>
          <p:nvPr/>
        </p:nvSpPr>
        <p:spPr>
          <a:xfrm xmlns:a="http://schemas.openxmlformats.org/drawingml/2006/main">
            <a:off x="647700" y="4791075"/>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245CE2"/>
                </a:solidFill>
                <a:latin typeface="Arial"/>
                <a:ea typeface="Arial"/>
                <a:cs typeface="Arial"/>
              </a:defRPr>
            </a:defPPr>
          </a:lstStyle>
          <a:p xmlns:a="http://schemas.openxmlformats.org/drawingml/2006/main">
            <a:pPr>
              <a:defRPr sz="1800" b="1">
                <a:solidFill>
                  <a:srgbClr val="245CE2"/>
                </a:solidFill>
                <a:latin typeface="Arial"/>
                <a:ea typeface="Arial"/>
                <a:cs typeface="Arial"/>
              </a:defRPr>
            </a:pPr>
            <a:r>
              <a:rPr sz="1800" b="1">
                <a:solidFill>
                  <a:srgbClr val="245CE2"/>
                </a:solidFill>
                <a:latin typeface="Arial"/>
                <a:ea typeface="Arial"/>
                <a:cs typeface="Arial"/>
              </a:rPr>
              <a:t>Known limits</a:t>
            </a:r>
          </a:p>
        </p:txBody>
      </p:sp>
      <p:sp>
        <p:nvSpPr>
          <p:cNvPr id="9" name="">
            <a:extLst xmlns:a="http://schemas.openxmlformats.org/drawingml/2006/main">
              <a:ext uri="{FF2B5EF4-FFF2-40B4-BE49-F238E27FC236}">
                <a16:creationId xmlns:a16="http://schemas.microsoft.com/office/drawing/2014/main" id="{FBCA8C1F-61D5-4C30-982E-43797905150B}"/>
              </a:ext>
            </a:extLst>
          </p:cNvPr>
          <p:cNvSpPr>
            <a:spLocks xmlns:a="http://schemas.openxmlformats.org/drawingml/2006/main" noGrp="1"/>
          </p:cNvSpPr>
          <p:nvPr/>
        </p:nvSpPr>
        <p:spPr>
          <a:xfrm xmlns:a="http://schemas.openxmlformats.org/drawingml/2006/main">
            <a:off x="647700" y="52673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4243A"/>
                </a:solidFill>
                <a:latin typeface="Arial"/>
                <a:ea typeface="Arial"/>
                <a:cs typeface="Arial"/>
              </a:defRPr>
            </a:defPPr>
          </a:lstStyle>
          <a:p xmlns:a="http://schemas.openxmlformats.org/drawingml/2006/main">
            <a:pPr>
              <a:defRPr sz="1725" b="0">
                <a:solidFill>
                  <a:srgbClr val="14243A"/>
                </a:solidFill>
                <a:latin typeface="Arial"/>
                <a:ea typeface="Arial"/>
                <a:cs typeface="Arial"/>
              </a:defRPr>
            </a:pPr>
            <a:r>
              <a:rPr sz="1725" b="0">
                <a:solidFill>
                  <a:srgbClr val="14243A"/>
                </a:solidFill>
                <a:latin typeface="Arial"/>
                <a:ea typeface="Arial"/>
                <a:cs typeface="Arial"/>
              </a:rPr>
              <a:t>Model wording and neutral probing still need work. No Ain/EIR expert validation yet.</a:t>
            </a:r>
          </a:p>
          <a:p xmlns:a="http://schemas.openxmlformats.org/drawingml/2006/main">
            <a:pPr>
              <a:defRPr sz="1725" b="0">
                <a:solidFill>
                  <a:srgbClr val="14243A"/>
                </a:solidFill>
                <a:latin typeface="Arial"/>
                <a:ea typeface="Arial"/>
                <a:cs typeface="Arial"/>
              </a:defRPr>
            </a:pPr>
            <a:r>
              <a:rPr sz="1725" b="0">
                <a:solidFill>
                  <a:srgbClr val="14243A"/>
                </a:solidFill>
                <a:latin typeface="Arial"/>
                <a:ea typeface="Arial"/>
                <a:cs typeface="Arial"/>
              </a:rPr>
              <a:t>Local single-user prototype; public Vercel recording remains unchanged.</a:t>
            </a:r>
          </a:p>
        </p:txBody>
      </p:sp>
    </p:spTree>
    <p:extLst>
      <p:ext uri="{BB962C8B-B14F-4D97-AF65-F5344CB8AC3E}">
        <p14:creationId xmlns:p14="http://schemas.microsoft.com/office/powerpoint/2010/main" val="122100698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7E54AF2-D599-42D8-823F-F6D13F97B9F9}"/>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5CE2"/>
                </a:solidFill>
                <a:latin typeface="Arial"/>
                <a:ea typeface="Arial"/>
                <a:cs typeface="Arial"/>
              </a:defRPr>
            </a:defPPr>
          </a:lstStyle>
          <a:p xmlns:a="http://schemas.openxmlformats.org/drawingml/2006/main">
            <a:pPr>
              <a:defRPr sz="1275" b="1">
                <a:solidFill>
                  <a:srgbClr val="245CE2"/>
                </a:solidFill>
                <a:latin typeface="Arial"/>
                <a:ea typeface="Arial"/>
                <a:cs typeface="Arial"/>
              </a:defRPr>
            </a:pPr>
            <a:r>
              <a:rPr sz="1275" b="1">
                <a:solidFill>
                  <a:srgbClr val="245CE2"/>
                </a:solidFill>
                <a:latin typeface="Arial"/>
                <a:ea typeface="Arial"/>
                <a:cs typeface="Arial"/>
              </a:rPr>
              <a:t>SIX-FEATURE ROADMAP</a:t>
            </a:r>
          </a:p>
        </p:txBody>
      </p:sp>
      <p:sp>
        <p:nvSpPr>
          <p:cNvPr id="2" name="">
            <a:extLst xmlns:a="http://schemas.openxmlformats.org/drawingml/2006/main">
              <a:ext uri="{FF2B5EF4-FFF2-40B4-BE49-F238E27FC236}">
                <a16:creationId xmlns:a16="http://schemas.microsoft.com/office/drawing/2014/main" id="{38A246A6-F694-4DE7-A4AE-8B00B07D4D0F}"/>
              </a:ext>
            </a:extLst>
          </p:cNvPr>
          <p:cNvSpPr>
            <a:spLocks xmlns:a="http://schemas.openxmlformats.org/drawingml/2006/main" noGrp="1"/>
          </p:cNvSpPr>
          <p:nvPr/>
        </p:nvSpPr>
        <p:spPr>
          <a:xfrm xmlns:a="http://schemas.openxmlformats.org/drawingml/2006/main">
            <a:off x="609600" y="7239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43A"/>
                </a:solidFill>
                <a:latin typeface="Arial"/>
                <a:ea typeface="Arial"/>
                <a:cs typeface="Arial"/>
              </a:defRPr>
            </a:defPPr>
          </a:lstStyle>
          <a:p xmlns:a="http://schemas.openxmlformats.org/drawingml/2006/main">
            <a:pPr>
              <a:defRPr sz="2850" b="1">
                <a:solidFill>
                  <a:srgbClr val="14243A"/>
                </a:solidFill>
                <a:latin typeface="Arial"/>
                <a:ea typeface="Arial"/>
                <a:cs typeface="Arial"/>
              </a:defRPr>
            </a:pPr>
            <a:r>
              <a:rPr sz="2850" b="1">
                <a:solidFill>
                  <a:srgbClr val="14243A"/>
                </a:solidFill>
                <a:latin typeface="Arial"/>
                <a:ea typeface="Arial"/>
                <a:cs typeface="Arial"/>
              </a:rPr>
              <a:t>Next: turn recorded activity into better learning</a:t>
            </a:r>
          </a:p>
        </p:txBody>
      </p:sp>
      <p:sp>
        <p:nvSpPr>
          <p:cNvPr id="3" name="">
            <a:extLst xmlns:a="http://schemas.openxmlformats.org/drawingml/2006/main">
              <a:ext uri="{FF2B5EF4-FFF2-40B4-BE49-F238E27FC236}">
                <a16:creationId xmlns:a16="http://schemas.microsoft.com/office/drawing/2014/main" id="{33AE60AA-6413-4CB5-98C3-94AC691426C6}"/>
              </a:ext>
            </a:extLst>
          </p:cNvPr>
          <p:cNvSpPr>
            <a:spLocks xmlns:a="http://schemas.openxmlformats.org/drawingml/2006/main" noGrp="1"/>
          </p:cNvSpPr>
          <p:nvPr/>
        </p:nvSpPr>
        <p:spPr>
          <a:xfrm xmlns:a="http://schemas.openxmlformats.org/drawingml/2006/main">
            <a:off x="6096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VIRTUAL EIR  /  WEEK 4 MILESTONE  /  OCT 16, 2026</a:t>
            </a:r>
          </a:p>
        </p:txBody>
      </p:sp>
      <p:sp>
        <p:nvSpPr>
          <p:cNvPr id="4" name="">
            <a:extLst xmlns:a="http://schemas.openxmlformats.org/drawingml/2006/main">
              <a:ext uri="{FF2B5EF4-FFF2-40B4-BE49-F238E27FC236}">
                <a16:creationId xmlns:a16="http://schemas.microsoft.com/office/drawing/2014/main" id="{87B3FE60-A179-4FB5-B2F2-01F3B8FCD961}"/>
              </a:ext>
            </a:extLst>
          </p:cNvPr>
          <p:cNvSpPr>
            <a:spLocks xmlns:a="http://schemas.openxmlformats.org/drawingml/2006/main" noGrp="1"/>
          </p:cNvSpPr>
          <p:nvPr/>
        </p:nvSpPr>
        <p:spPr>
          <a:xfrm xmlns:a="http://schemas.openxmlformats.org/drawingml/2006/main">
            <a:off x="10972800" y="64008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DE329F32-ACA0-4E0D-940F-3A846911F191}"/>
              </a:ext>
            </a:extLst>
          </p:cNvPr>
          <p:cNvSpPr>
            <a:spLocks xmlns:a="http://schemas.openxmlformats.org/drawingml/2006/main" noGrp="1"/>
          </p:cNvSpPr>
          <p:nvPr/>
        </p:nvSpPr>
        <p:spPr>
          <a:xfrm xmlns:a="http://schemas.openxmlformats.org/drawingml/2006/main">
            <a:off x="647700" y="17811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45CE2"/>
                </a:solidFill>
                <a:latin typeface="Arial"/>
                <a:ea typeface="Arial"/>
                <a:cs typeface="Arial"/>
              </a:defRPr>
            </a:defPPr>
          </a:lstStyle>
          <a:p xmlns:a="http://schemas.openxmlformats.org/drawingml/2006/main">
            <a:pPr>
              <a:defRPr sz="1875" b="1">
                <a:solidFill>
                  <a:srgbClr val="245CE2"/>
                </a:solidFill>
                <a:latin typeface="Arial"/>
                <a:ea typeface="Arial"/>
                <a:cs typeface="Arial"/>
              </a:defRPr>
            </a:pPr>
            <a:r>
              <a:rPr sz="1875" b="1">
                <a:solidFill>
                  <a:srgbClr val="245CE2"/>
                </a:solidFill>
                <a:latin typeface="Arial"/>
                <a:ea typeface="Arial"/>
                <a:cs typeface="Arial"/>
              </a:rPr>
              <a:t>1  Weekly Check-in</a:t>
            </a:r>
          </a:p>
        </p:txBody>
      </p:sp>
      <p:sp>
        <p:nvSpPr>
          <p:cNvPr id="6" name="">
            <a:extLst xmlns:a="http://schemas.openxmlformats.org/drawingml/2006/main">
              <a:ext uri="{FF2B5EF4-FFF2-40B4-BE49-F238E27FC236}">
                <a16:creationId xmlns:a16="http://schemas.microsoft.com/office/drawing/2014/main" id="{AE79377F-69DE-4CF1-A3A8-12C5B8E71A08}"/>
              </a:ext>
            </a:extLst>
          </p:cNvPr>
          <p:cNvSpPr>
            <a:spLocks xmlns:a="http://schemas.openxmlformats.org/drawingml/2006/main" noGrp="1"/>
          </p:cNvSpPr>
          <p:nvPr/>
        </p:nvSpPr>
        <p:spPr>
          <a:xfrm xmlns:a="http://schemas.openxmlformats.org/drawingml/2006/main">
            <a:off x="4876800" y="17811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43A"/>
                </a:solidFill>
                <a:latin typeface="Arial"/>
                <a:ea typeface="Arial"/>
                <a:cs typeface="Arial"/>
              </a:defRPr>
            </a:defPPr>
          </a:lstStyle>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Results, blockers and proposed priorities</a:t>
            </a:r>
          </a:p>
        </p:txBody>
      </p:sp>
      <p:sp>
        <p:nvSpPr>
          <p:cNvPr id="7" name="">
            <a:extLst xmlns:a="http://schemas.openxmlformats.org/drawingml/2006/main">
              <a:ext uri="{FF2B5EF4-FFF2-40B4-BE49-F238E27FC236}">
                <a16:creationId xmlns:a16="http://schemas.microsoft.com/office/drawing/2014/main" id="{DB7582A9-A996-46A5-BA10-CBB9DF92E947}"/>
              </a:ext>
            </a:extLst>
          </p:cNvPr>
          <p:cNvSpPr>
            <a:spLocks xmlns:a="http://schemas.openxmlformats.org/drawingml/2006/main" noGrp="1"/>
          </p:cNvSpPr>
          <p:nvPr/>
        </p:nvSpPr>
        <p:spPr>
          <a:xfrm xmlns:a="http://schemas.openxmlformats.org/drawingml/2006/main">
            <a:off x="647700" y="24669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45CE2"/>
                </a:solidFill>
                <a:latin typeface="Arial"/>
                <a:ea typeface="Arial"/>
                <a:cs typeface="Arial"/>
              </a:defRPr>
            </a:defPPr>
          </a:lstStyle>
          <a:p xmlns:a="http://schemas.openxmlformats.org/drawingml/2006/main">
            <a:pPr>
              <a:defRPr sz="1875" b="1">
                <a:solidFill>
                  <a:srgbClr val="245CE2"/>
                </a:solidFill>
                <a:latin typeface="Arial"/>
                <a:ea typeface="Arial"/>
                <a:cs typeface="Arial"/>
              </a:defRPr>
            </a:pPr>
            <a:r>
              <a:rPr sz="1875" b="1">
                <a:solidFill>
                  <a:srgbClr val="245CE2"/>
                </a:solidFill>
                <a:latin typeface="Arial"/>
                <a:ea typeface="Arial"/>
                <a:cs typeface="Arial"/>
              </a:rPr>
              <a:t>2  Experiment Designer</a:t>
            </a:r>
          </a:p>
        </p:txBody>
      </p:sp>
      <p:sp>
        <p:nvSpPr>
          <p:cNvPr id="8" name="">
            <a:extLst xmlns:a="http://schemas.openxmlformats.org/drawingml/2006/main">
              <a:ext uri="{FF2B5EF4-FFF2-40B4-BE49-F238E27FC236}">
                <a16:creationId xmlns:a16="http://schemas.microsoft.com/office/drawing/2014/main" id="{B1156CD7-1F0A-447F-B371-FE0986595596}"/>
              </a:ext>
            </a:extLst>
          </p:cNvPr>
          <p:cNvSpPr>
            <a:spLocks xmlns:a="http://schemas.openxmlformats.org/drawingml/2006/main" noGrp="1"/>
          </p:cNvSpPr>
          <p:nvPr/>
        </p:nvSpPr>
        <p:spPr>
          <a:xfrm xmlns:a="http://schemas.openxmlformats.org/drawingml/2006/main">
            <a:off x="4876800" y="24669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43A"/>
                </a:solidFill>
                <a:latin typeface="Arial"/>
                <a:ea typeface="Arial"/>
                <a:cs typeface="Arial"/>
              </a:defRPr>
            </a:defPPr>
          </a:lstStyle>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Neutral method and observable decision rules</a:t>
            </a:r>
          </a:p>
        </p:txBody>
      </p:sp>
      <p:sp>
        <p:nvSpPr>
          <p:cNvPr id="9" name="">
            <a:extLst xmlns:a="http://schemas.openxmlformats.org/drawingml/2006/main">
              <a:ext uri="{FF2B5EF4-FFF2-40B4-BE49-F238E27FC236}">
                <a16:creationId xmlns:a16="http://schemas.microsoft.com/office/drawing/2014/main" id="{27C15E8C-6EB6-487B-9C3D-D49E96486D33}"/>
              </a:ext>
            </a:extLst>
          </p:cNvPr>
          <p:cNvSpPr>
            <a:spLocks xmlns:a="http://schemas.openxmlformats.org/drawingml/2006/main" noGrp="1"/>
          </p:cNvSpPr>
          <p:nvPr/>
        </p:nvSpPr>
        <p:spPr>
          <a:xfrm xmlns:a="http://schemas.openxmlformats.org/drawingml/2006/main">
            <a:off x="647700" y="31527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45CE2"/>
                </a:solidFill>
                <a:latin typeface="Arial"/>
                <a:ea typeface="Arial"/>
                <a:cs typeface="Arial"/>
              </a:defRPr>
            </a:defPPr>
          </a:lstStyle>
          <a:p xmlns:a="http://schemas.openxmlformats.org/drawingml/2006/main">
            <a:pPr>
              <a:defRPr sz="1875" b="1">
                <a:solidFill>
                  <a:srgbClr val="245CE2"/>
                </a:solidFill>
                <a:latin typeface="Arial"/>
                <a:ea typeface="Arial"/>
                <a:cs typeface="Arial"/>
              </a:defRPr>
            </a:pPr>
            <a:r>
              <a:rPr sz="1875" b="1">
                <a:solidFill>
                  <a:srgbClr val="245CE2"/>
                </a:solidFill>
                <a:latin typeface="Arial"/>
                <a:ea typeface="Arial"/>
                <a:cs typeface="Arial"/>
              </a:rPr>
              <a:t>3  Evidence Board</a:t>
            </a:r>
          </a:p>
        </p:txBody>
      </p:sp>
      <p:sp>
        <p:nvSpPr>
          <p:cNvPr id="10" name="">
            <a:extLst xmlns:a="http://schemas.openxmlformats.org/drawingml/2006/main">
              <a:ext uri="{FF2B5EF4-FFF2-40B4-BE49-F238E27FC236}">
                <a16:creationId xmlns:a16="http://schemas.microsoft.com/office/drawing/2014/main" id="{3129AA04-3F29-4E1A-B852-5329F1F0843B}"/>
              </a:ext>
            </a:extLst>
          </p:cNvPr>
          <p:cNvSpPr>
            <a:spLocks xmlns:a="http://schemas.openxmlformats.org/drawingml/2006/main" noGrp="1"/>
          </p:cNvSpPr>
          <p:nvPr/>
        </p:nvSpPr>
        <p:spPr>
          <a:xfrm xmlns:a="http://schemas.openxmlformats.org/drawingml/2006/main">
            <a:off x="4876800" y="31527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43A"/>
                </a:solidFill>
                <a:latin typeface="Arial"/>
                <a:ea typeface="Arial"/>
                <a:cs typeface="Arial"/>
              </a:defRPr>
            </a:defPPr>
          </a:lstStyle>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Sources, sample limits and conflicting evidence</a:t>
            </a:r>
          </a:p>
        </p:txBody>
      </p:sp>
      <p:sp>
        <p:nvSpPr>
          <p:cNvPr id="11" name="">
            <a:extLst xmlns:a="http://schemas.openxmlformats.org/drawingml/2006/main">
              <a:ext uri="{FF2B5EF4-FFF2-40B4-BE49-F238E27FC236}">
                <a16:creationId xmlns:a16="http://schemas.microsoft.com/office/drawing/2014/main" id="{BC902B1F-E7A4-4D28-8C0F-77A4293F8580}"/>
              </a:ext>
            </a:extLst>
          </p:cNvPr>
          <p:cNvSpPr>
            <a:spLocks xmlns:a="http://schemas.openxmlformats.org/drawingml/2006/main" noGrp="1"/>
          </p:cNvSpPr>
          <p:nvPr/>
        </p:nvSpPr>
        <p:spPr>
          <a:xfrm xmlns:a="http://schemas.openxmlformats.org/drawingml/2006/main">
            <a:off x="647700" y="38385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45CE2"/>
                </a:solidFill>
                <a:latin typeface="Arial"/>
                <a:ea typeface="Arial"/>
                <a:cs typeface="Arial"/>
              </a:defRPr>
            </a:defPPr>
          </a:lstStyle>
          <a:p xmlns:a="http://schemas.openxmlformats.org/drawingml/2006/main">
            <a:pPr>
              <a:defRPr sz="1875" b="1">
                <a:solidFill>
                  <a:srgbClr val="245CE2"/>
                </a:solidFill>
                <a:latin typeface="Arial"/>
                <a:ea typeface="Arial"/>
                <a:cs typeface="Arial"/>
              </a:defRPr>
            </a:pPr>
            <a:r>
              <a:rPr sz="1875" b="1">
                <a:solidFill>
                  <a:srgbClr val="245CE2"/>
                </a:solidFill>
                <a:latin typeface="Arial"/>
                <a:ea typeface="Arial"/>
                <a:cs typeface="Arial"/>
              </a:rPr>
              <a:t>4  Decision Lab</a:t>
            </a:r>
          </a:p>
        </p:txBody>
      </p:sp>
      <p:sp>
        <p:nvSpPr>
          <p:cNvPr id="12" name="">
            <a:extLst xmlns:a="http://schemas.openxmlformats.org/drawingml/2006/main">
              <a:ext uri="{FF2B5EF4-FFF2-40B4-BE49-F238E27FC236}">
                <a16:creationId xmlns:a16="http://schemas.microsoft.com/office/drawing/2014/main" id="{1157B857-EE27-46B6-A9C9-5EC3DA71C826}"/>
              </a:ext>
            </a:extLst>
          </p:cNvPr>
          <p:cNvSpPr>
            <a:spLocks xmlns:a="http://schemas.openxmlformats.org/drawingml/2006/main" noGrp="1"/>
          </p:cNvSpPr>
          <p:nvPr/>
        </p:nvSpPr>
        <p:spPr>
          <a:xfrm xmlns:a="http://schemas.openxmlformats.org/drawingml/2006/main">
            <a:off x="4876800" y="38385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43A"/>
                </a:solidFill>
                <a:latin typeface="Arial"/>
                <a:ea typeface="Arial"/>
                <a:cs typeface="Arial"/>
              </a:defRPr>
            </a:defPPr>
          </a:lstStyle>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Options, explicit assumptions and next tests</a:t>
            </a:r>
          </a:p>
        </p:txBody>
      </p:sp>
      <p:sp>
        <p:nvSpPr>
          <p:cNvPr id="13" name="">
            <a:extLst xmlns:a="http://schemas.openxmlformats.org/drawingml/2006/main">
              <a:ext uri="{FF2B5EF4-FFF2-40B4-BE49-F238E27FC236}">
                <a16:creationId xmlns:a16="http://schemas.microsoft.com/office/drawing/2014/main" id="{E53A6887-12BD-4FB0-9B07-9A48B3A8EC69}"/>
              </a:ext>
            </a:extLst>
          </p:cNvPr>
          <p:cNvSpPr>
            <a:spLocks xmlns:a="http://schemas.openxmlformats.org/drawingml/2006/main" noGrp="1"/>
          </p:cNvSpPr>
          <p:nvPr/>
        </p:nvSpPr>
        <p:spPr>
          <a:xfrm xmlns:a="http://schemas.openxmlformats.org/drawingml/2006/main">
            <a:off x="647700" y="4524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45CE2"/>
                </a:solidFill>
                <a:latin typeface="Arial"/>
                <a:ea typeface="Arial"/>
                <a:cs typeface="Arial"/>
              </a:defRPr>
            </a:defPPr>
          </a:lstStyle>
          <a:p xmlns:a="http://schemas.openxmlformats.org/drawingml/2006/main">
            <a:pPr>
              <a:defRPr sz="1875" b="1">
                <a:solidFill>
                  <a:srgbClr val="245CE2"/>
                </a:solidFill>
                <a:latin typeface="Arial"/>
                <a:ea typeface="Arial"/>
                <a:cs typeface="Arial"/>
              </a:defRPr>
            </a:pPr>
            <a:r>
              <a:rPr sz="1875" b="1">
                <a:solidFill>
                  <a:srgbClr val="245CE2"/>
                </a:solidFill>
                <a:latin typeface="Arial"/>
                <a:ea typeface="Arial"/>
                <a:cs typeface="Arial"/>
              </a:rPr>
              <a:t>5  Pitch Practice</a:t>
            </a:r>
          </a:p>
        </p:txBody>
      </p:sp>
      <p:sp>
        <p:nvSpPr>
          <p:cNvPr id="14" name="">
            <a:extLst xmlns:a="http://schemas.openxmlformats.org/drawingml/2006/main">
              <a:ext uri="{FF2B5EF4-FFF2-40B4-BE49-F238E27FC236}">
                <a16:creationId xmlns:a16="http://schemas.microsoft.com/office/drawing/2014/main" id="{4CAF3A77-867E-4FAA-BFC8-0AAB21DACCA7}"/>
              </a:ext>
            </a:extLst>
          </p:cNvPr>
          <p:cNvSpPr>
            <a:spLocks xmlns:a="http://schemas.openxmlformats.org/drawingml/2006/main" noGrp="1"/>
          </p:cNvSpPr>
          <p:nvPr/>
        </p:nvSpPr>
        <p:spPr>
          <a:xfrm xmlns:a="http://schemas.openxmlformats.org/drawingml/2006/main">
            <a:off x="4876800" y="45243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43A"/>
                </a:solidFill>
                <a:latin typeface="Arial"/>
                <a:ea typeface="Arial"/>
                <a:cs typeface="Arial"/>
              </a:defRPr>
            </a:defPPr>
          </a:lstStyle>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Labeled simulation, focused feedback and revision</a:t>
            </a:r>
          </a:p>
        </p:txBody>
      </p:sp>
      <p:sp>
        <p:nvSpPr>
          <p:cNvPr id="15" name="">
            <a:extLst xmlns:a="http://schemas.openxmlformats.org/drawingml/2006/main">
              <a:ext uri="{FF2B5EF4-FFF2-40B4-BE49-F238E27FC236}">
                <a16:creationId xmlns:a16="http://schemas.microsoft.com/office/drawing/2014/main" id="{A46C7B5A-8C6C-4453-82B3-C813FC35AF56}"/>
              </a:ext>
            </a:extLst>
          </p:cNvPr>
          <p:cNvSpPr>
            <a:spLocks xmlns:a="http://schemas.openxmlformats.org/drawingml/2006/main" noGrp="1"/>
          </p:cNvSpPr>
          <p:nvPr/>
        </p:nvSpPr>
        <p:spPr>
          <a:xfrm xmlns:a="http://schemas.openxmlformats.org/drawingml/2006/main">
            <a:off x="647700" y="52101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45CE2"/>
                </a:solidFill>
                <a:latin typeface="Arial"/>
                <a:ea typeface="Arial"/>
                <a:cs typeface="Arial"/>
              </a:defRPr>
            </a:defPPr>
          </a:lstStyle>
          <a:p xmlns:a="http://schemas.openxmlformats.org/drawingml/2006/main">
            <a:pPr>
              <a:defRPr sz="1875" b="1">
                <a:solidFill>
                  <a:srgbClr val="245CE2"/>
                </a:solidFill>
                <a:latin typeface="Arial"/>
                <a:ea typeface="Arial"/>
                <a:cs typeface="Arial"/>
              </a:defRPr>
            </a:pPr>
            <a:r>
              <a:rPr sz="1875" b="1">
                <a:solidFill>
                  <a:srgbClr val="245CE2"/>
                </a:solidFill>
                <a:latin typeface="Arial"/>
                <a:ea typeface="Arial"/>
                <a:cs typeface="Arial"/>
              </a:rPr>
              <a:t>6  Mentor Brief</a:t>
            </a:r>
          </a:p>
        </p:txBody>
      </p:sp>
      <p:sp>
        <p:nvSpPr>
          <p:cNvPr id="16" name="">
            <a:extLst xmlns:a="http://schemas.openxmlformats.org/drawingml/2006/main">
              <a:ext uri="{FF2B5EF4-FFF2-40B4-BE49-F238E27FC236}">
                <a16:creationId xmlns:a16="http://schemas.microsoft.com/office/drawing/2014/main" id="{AA5CA8C2-341D-4933-B5BD-932480493754}"/>
              </a:ext>
            </a:extLst>
          </p:cNvPr>
          <p:cNvSpPr>
            <a:spLocks xmlns:a="http://schemas.openxmlformats.org/drawingml/2006/main" noGrp="1"/>
          </p:cNvSpPr>
          <p:nvPr/>
        </p:nvSpPr>
        <p:spPr>
          <a:xfrm xmlns:a="http://schemas.openxmlformats.org/drawingml/2006/main">
            <a:off x="4876800" y="5210175"/>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43A"/>
                </a:solidFill>
                <a:latin typeface="Arial"/>
                <a:ea typeface="Arial"/>
                <a:cs typeface="Arial"/>
              </a:defRPr>
            </a:defPPr>
          </a:lstStyle>
          <a:p xmlns:a="http://schemas.openxmlformats.org/drawingml/2006/main">
            <a:pPr>
              <a:defRPr sz="1875" b="0">
                <a:solidFill>
                  <a:srgbClr val="14243A"/>
                </a:solidFill>
                <a:latin typeface="Arial"/>
                <a:ea typeface="Arial"/>
                <a:cs typeface="Arial"/>
              </a:defRPr>
            </a:pPr>
            <a:r>
              <a:rPr sz="1875" b="0">
                <a:solidFill>
                  <a:srgbClr val="14243A"/>
                </a:solidFill>
                <a:latin typeface="Arial"/>
                <a:ea typeface="Arial"/>
                <a:cs typeface="Arial"/>
              </a:rPr>
              <a:t>Reviewable one-page progress and questions</a:t>
            </a:r>
          </a:p>
        </p:txBody>
      </p:sp>
    </p:spTree>
    <p:extLst>
      <p:ext uri="{BB962C8B-B14F-4D97-AF65-F5344CB8AC3E}">
        <p14:creationId xmlns:p14="http://schemas.microsoft.com/office/powerpoint/2010/main" val="17368942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41C56F-729C-4AB0-BAFB-B60CDED01C99}"/>
              </a:ext>
            </a:extLst>
          </p:cNvPr>
          <p:cNvSpPr>
            <a:spLocks xmlns:a="http://schemas.openxmlformats.org/drawingml/2006/main" noGrp="1"/>
          </p:cNvSpPr>
          <p:nvPr/>
        </p:nvSpPr>
        <p:spPr>
          <a:xfrm xmlns:a="http://schemas.openxmlformats.org/drawingml/2006/main">
            <a:off x="609600" y="2667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245CE2"/>
                </a:solidFill>
                <a:latin typeface="Arial"/>
                <a:ea typeface="Arial"/>
                <a:cs typeface="Arial"/>
              </a:defRPr>
            </a:defPPr>
          </a:lstStyle>
          <a:p xmlns:a="http://schemas.openxmlformats.org/drawingml/2006/main">
            <a:pPr>
              <a:defRPr sz="1275" b="1">
                <a:solidFill>
                  <a:srgbClr val="245CE2"/>
                </a:solidFill>
                <a:latin typeface="Arial"/>
                <a:ea typeface="Arial"/>
                <a:cs typeface="Arial"/>
              </a:defRPr>
            </a:pPr>
            <a:r>
              <a:rPr sz="1275" b="1">
                <a:solidFill>
                  <a:srgbClr val="245CE2"/>
                </a:solidFill>
                <a:latin typeface="Arial"/>
                <a:ea typeface="Arial"/>
                <a:cs typeface="Arial"/>
              </a:rPr>
              <a:t>DISCUSSION</a:t>
            </a:r>
          </a:p>
        </p:txBody>
      </p:sp>
      <p:sp>
        <p:nvSpPr>
          <p:cNvPr id="2" name="">
            <a:extLst xmlns:a="http://schemas.openxmlformats.org/drawingml/2006/main">
              <a:ext uri="{FF2B5EF4-FFF2-40B4-BE49-F238E27FC236}">
                <a16:creationId xmlns:a16="http://schemas.microsoft.com/office/drawing/2014/main" id="{07581BF7-5DC3-46B5-8732-62B760E60698}"/>
              </a:ext>
            </a:extLst>
          </p:cNvPr>
          <p:cNvSpPr>
            <a:spLocks xmlns:a="http://schemas.openxmlformats.org/drawingml/2006/main" noGrp="1"/>
          </p:cNvSpPr>
          <p:nvPr/>
        </p:nvSpPr>
        <p:spPr>
          <a:xfrm xmlns:a="http://schemas.openxmlformats.org/drawingml/2006/main">
            <a:off x="609600" y="72390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4243A"/>
                </a:solidFill>
                <a:latin typeface="Arial"/>
                <a:ea typeface="Arial"/>
                <a:cs typeface="Arial"/>
              </a:defRPr>
            </a:defPPr>
          </a:lstStyle>
          <a:p xmlns:a="http://schemas.openxmlformats.org/drawingml/2006/main">
            <a:pPr>
              <a:defRPr sz="2850" b="1">
                <a:solidFill>
                  <a:srgbClr val="14243A"/>
                </a:solidFill>
                <a:latin typeface="Arial"/>
                <a:ea typeface="Arial"/>
                <a:cs typeface="Arial"/>
              </a:defRPr>
            </a:pPr>
            <a:r>
              <a:rPr sz="2850" b="1">
                <a:solidFill>
                  <a:srgbClr val="14243A"/>
                </a:solidFill>
                <a:latin typeface="Arial"/>
                <a:ea typeface="Arial"/>
                <a:cs typeface="Arial"/>
              </a:rPr>
              <a:t>What we need to validate with faculty and Ain</a:t>
            </a:r>
          </a:p>
        </p:txBody>
      </p:sp>
      <p:sp>
        <p:nvSpPr>
          <p:cNvPr id="3" name="">
            <a:extLst xmlns:a="http://schemas.openxmlformats.org/drawingml/2006/main">
              <a:ext uri="{FF2B5EF4-FFF2-40B4-BE49-F238E27FC236}">
                <a16:creationId xmlns:a16="http://schemas.microsoft.com/office/drawing/2014/main" id="{9ECD3641-FA39-4F8E-9F2A-653B43C6DD2F}"/>
              </a:ext>
            </a:extLst>
          </p:cNvPr>
          <p:cNvSpPr>
            <a:spLocks xmlns:a="http://schemas.openxmlformats.org/drawingml/2006/main" noGrp="1"/>
          </p:cNvSpPr>
          <p:nvPr/>
        </p:nvSpPr>
        <p:spPr>
          <a:xfrm xmlns:a="http://schemas.openxmlformats.org/drawingml/2006/main">
            <a:off x="609600" y="640080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VIRTUAL EIR  /  WEEK 4 MILESTONE  /  OCT 16, 2026</a:t>
            </a:r>
          </a:p>
        </p:txBody>
      </p:sp>
      <p:sp>
        <p:nvSpPr>
          <p:cNvPr id="4" name="">
            <a:extLst xmlns:a="http://schemas.openxmlformats.org/drawingml/2006/main">
              <a:ext uri="{FF2B5EF4-FFF2-40B4-BE49-F238E27FC236}">
                <a16:creationId xmlns:a16="http://schemas.microsoft.com/office/drawing/2014/main" id="{D80D1223-53FA-45B7-A50A-65EE1FB3B588}"/>
              </a:ext>
            </a:extLst>
          </p:cNvPr>
          <p:cNvSpPr>
            <a:spLocks xmlns:a="http://schemas.openxmlformats.org/drawingml/2006/main" noGrp="1"/>
          </p:cNvSpPr>
          <p:nvPr/>
        </p:nvSpPr>
        <p:spPr>
          <a:xfrm xmlns:a="http://schemas.openxmlformats.org/drawingml/2006/main">
            <a:off x="10972800" y="640080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56657A"/>
                </a:solidFill>
                <a:latin typeface="Arial"/>
                <a:ea typeface="Arial"/>
                <a:cs typeface="Arial"/>
              </a:defRPr>
            </a:defPPr>
          </a:lstStyle>
          <a:p xmlns:a="http://schemas.openxmlformats.org/drawingml/2006/main">
            <a:pPr>
              <a:defRPr sz="1050" b="0">
                <a:solidFill>
                  <a:srgbClr val="56657A"/>
                </a:solidFill>
                <a:latin typeface="Arial"/>
                <a:ea typeface="Arial"/>
                <a:cs typeface="Arial"/>
              </a:defRPr>
            </a:pPr>
            <a:r>
              <a:rPr sz="1050" b="0">
                <a:solidFill>
                  <a:srgbClr val="56657A"/>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CB3D0964-07AC-4B08-A814-8F51DF393CB7}"/>
              </a:ext>
            </a:extLst>
          </p:cNvPr>
          <p:cNvSpPr>
            <a:spLocks xmlns:a="http://schemas.openxmlformats.org/drawingml/2006/main" noGrp="1"/>
          </p:cNvSpPr>
          <p:nvPr/>
        </p:nvSpPr>
        <p:spPr>
          <a:xfrm xmlns:a="http://schemas.openxmlformats.org/drawingml/2006/main">
            <a:off x="647700" y="1943100"/>
            <a:ext cx="1062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Which first-time founder journey should we prioritize?</a:t>
            </a:r>
          </a:p>
        </p:txBody>
      </p:sp>
      <p:sp>
        <p:nvSpPr>
          <p:cNvPr id="6" name="">
            <a:extLst xmlns:a="http://schemas.openxmlformats.org/drawingml/2006/main">
              <a:ext uri="{FF2B5EF4-FFF2-40B4-BE49-F238E27FC236}">
                <a16:creationId xmlns:a16="http://schemas.microsoft.com/office/drawing/2014/main" id="{41302DBF-410D-46C3-9DBC-13355CE6BD83}"/>
              </a:ext>
            </a:extLst>
          </p:cNvPr>
          <p:cNvSpPr>
            <a:spLocks xmlns:a="http://schemas.openxmlformats.org/drawingml/2006/main" noGrp="1"/>
          </p:cNvSpPr>
          <p:nvPr/>
        </p:nvSpPr>
        <p:spPr>
          <a:xfrm xmlns:a="http://schemas.openxmlformats.org/drawingml/2006/main">
            <a:off x="647700" y="2933700"/>
            <a:ext cx="1062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What evidence should justify closing a learning goal?</a:t>
            </a:r>
          </a:p>
        </p:txBody>
      </p:sp>
      <p:sp>
        <p:nvSpPr>
          <p:cNvPr id="7" name="">
            <a:extLst xmlns:a="http://schemas.openxmlformats.org/drawingml/2006/main">
              <a:ext uri="{FF2B5EF4-FFF2-40B4-BE49-F238E27FC236}">
                <a16:creationId xmlns:a16="http://schemas.microsoft.com/office/drawing/2014/main" id="{C881F129-6356-4E3A-9075-FBEF921A2459}"/>
              </a:ext>
            </a:extLst>
          </p:cNvPr>
          <p:cNvSpPr>
            <a:spLocks xmlns:a="http://schemas.openxmlformats.org/drawingml/2006/main" noGrp="1"/>
          </p:cNvSpPr>
          <p:nvPr/>
        </p:nvSpPr>
        <p:spPr>
          <a:xfrm xmlns:a="http://schemas.openxmlformats.org/drawingml/2006/main">
            <a:off x="647700" y="3924300"/>
            <a:ext cx="1062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43A"/>
                </a:solidFill>
                <a:latin typeface="Arial"/>
                <a:ea typeface="Arial"/>
                <a:cs typeface="Arial"/>
              </a:defRPr>
            </a:defPPr>
          </a:lstStyle>
          <a:p xmlns:a="http://schemas.openxmlformats.org/drawingml/2006/main">
            <a:pPr>
              <a:defRPr sz="2025" b="0">
                <a:solidFill>
                  <a:srgbClr val="14243A"/>
                </a:solidFill>
                <a:latin typeface="Arial"/>
                <a:ea typeface="Arial"/>
                <a:cs typeface="Arial"/>
              </a:defRPr>
            </a:pPr>
            <a:r>
              <a:rPr sz="2025" b="0">
                <a:solidFill>
                  <a:srgbClr val="14243A"/>
                </a:solidFill>
                <a:latin typeface="Arial"/>
                <a:ea typeface="Arial"/>
                <a:cs typeface="Arial"/>
              </a:rPr>
              <a:t>Can an EIR review our four styles and neutral interview probes?</a:t>
            </a:r>
          </a:p>
        </p:txBody>
      </p:sp>
      <p:sp>
        <p:nvSpPr>
          <p:cNvPr id="8" name="">
            <a:extLst xmlns:a="http://schemas.openxmlformats.org/drawingml/2006/main">
              <a:ext uri="{FF2B5EF4-FFF2-40B4-BE49-F238E27FC236}">
                <a16:creationId xmlns:a16="http://schemas.microsoft.com/office/drawing/2014/main" id="{EDD45DEB-9411-481F-A097-239E99E01BC7}"/>
              </a:ext>
            </a:extLst>
          </p:cNvPr>
          <p:cNvSpPr>
            <a:spLocks xmlns:a="http://schemas.openxmlformats.org/drawingml/2006/main" noGrp="1"/>
          </p:cNvSpPr>
          <p:nvPr/>
        </p:nvSpPr>
        <p:spPr>
          <a:xfrm xmlns:a="http://schemas.openxmlformats.org/drawingml/2006/main">
            <a:off x="647700" y="5286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245CE2"/>
                </a:solidFill>
                <a:latin typeface="Arial"/>
                <a:ea typeface="Arial"/>
                <a:cs typeface="Arial"/>
              </a:defRPr>
            </a:defPPr>
          </a:lstStyle>
          <a:p xmlns:a="http://schemas.openxmlformats.org/drawingml/2006/main">
            <a:pPr>
              <a:defRPr sz="1875" b="1">
                <a:solidFill>
                  <a:srgbClr val="245CE2"/>
                </a:solidFill>
                <a:latin typeface="Arial"/>
                <a:ea typeface="Arial"/>
                <a:cs typeface="Arial"/>
              </a:defRPr>
            </a:pPr>
            <a:r>
              <a:rPr sz="1875" b="1">
                <a:solidFill>
                  <a:srgbClr val="245CE2"/>
                </a:solidFill>
                <a:latin typeface="Arial"/>
                <a:ea typeface="Arial"/>
                <a:cs typeface="Arial"/>
              </a:rPr>
              <a:t>Next handoff: agreed evaluation cases, named owners and observable deliverables.</a:t>
            </a:r>
          </a:p>
        </p:txBody>
      </p:sp>
    </p:spTree>
    <p:extLst>
      <p:ext uri="{BB962C8B-B14F-4D97-AF65-F5344CB8AC3E}">
        <p14:creationId xmlns:p14="http://schemas.microsoft.com/office/powerpoint/2010/main" val="8660734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2026-10-16T14:59:20.9910000Z</dcterms:created>
  <dcterms:modified xsi:type="dcterms:W3CDTF">2026-10-16T14:59:20.9910000Z</dcterms:modified>
</coreProperties>
</file>